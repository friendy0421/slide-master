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charts/chart201.xml" ContentType="application/vnd.openxmlformats-officedocument.drawingml.chart+xml"/>
  <Override PartName="/ppt/charts/chart301.xml" ContentType="application/vnd.openxmlformats-officedocument.drawingml.chart+xml"/>
  <Override PartName="/ppt/notesSlides/notesSlide1_tf1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printerSettings" Target="printerSettings/printerSettings1.bin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2" Type="http://schemas.openxmlformats.org/officeDocument/2006/relationships/slide" Target="slides/slide12.xml" /></Relationships>
</file>

<file path=ppt/charts/_rels/chart2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201.xlsx"/>
</Relationships>
</file>

<file path=ppt/charts/_rels/chart3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301.xlsx"/>
</Relationships>
</file>

<file path=ppt/charts/chart2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최초 해결률</c:v>
                </c:pt>
              </c:strCache>
            </c:strRef>
          </c:tx>
          <c:spPr>
            <a:solidFill>
              <a:srgbClr val="4472C4"/>
            </a:solidFill>
            <a:ln>
              <a:solidFill>
                <a:srgbClr val="4472C4"/>
              </a:solidFill>
            </a:ln>
          </c:spPr>
          <c:invertIfNegative val="0"/>
          <c:dPt>
            <c:idx val="0"/>
            <c:invertIfNegative val="0"/>
            <c:spPr>
              <a:solidFill>
                <a:srgbClr val="1E4D8F"/>
              </a:solidFill>
              <a:ln>
                <a:solidFill>
                  <a:srgbClr val="1E4D8F"/>
                </a:solidFill>
              </a:ln>
            </c:spPr>
          </c:dPt>
          <c:dPt>
            <c:idx val="1"/>
            <c:invertIfNegative val="0"/>
            <c:spPr>
              <a:solidFill>
                <a:srgbClr val="167F8D"/>
              </a:solidFill>
              <a:ln>
                <a:solidFill>
                  <a:srgbClr val="167F8D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현재</c:v>
                </c:pt>
                <c:pt idx="1">
                  <c:v>목표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84</c:v>
                </c:pt>
                <c:pt idx="1">
                  <c:v>90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650">
                  <a:solidFill>
                    <a:srgbClr val="172033"/>
                  </a:solidFill>
                  <a:latin typeface="Pretendard"/>
                  <a:ea typeface="Pretendard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 cap="flat" cmpd="sng" algn="ctr">
            <a:solidFill>
              <a:srgbClr val="D8DEE8"/>
            </a:solidFill>
            <a:round/>
          </a:ln>
        </c:spPr>
        <c:txPr>
          <a:bodyPr/>
          <a:lstStyle/>
          <a:p>
            <a:pPr>
              <a:defRPr sz="1650">
                <a:solidFill>
                  <a:srgbClr val="526079"/>
                </a:solidFill>
                <a:latin typeface="Pretendard"/>
                <a:ea typeface="Pretendard"/>
              </a:defRPr>
            </a:pPr>
            <a:endParaRPr lang="en-US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100"/>
          <c:min val="0"/>
        </c:scaling>
        <c:delete val="0"/>
        <c:axPos val="l"/>
        <c:majorGridlines>
          <c:spPr>
            <a:ln w="6350" cap="flat" cmpd="sng" algn="ctr">
              <a:solidFill>
                <a:srgbClr val="E6EBF1"/>
              </a:solidFill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9525" cap="flat" cmpd="sng" algn="ctr">
            <a:solidFill>
              <a:srgbClr val="D8DEE8"/>
            </a:solidFill>
            <a:round/>
          </a:ln>
        </c:spPr>
        <c:txPr>
          <a:bodyPr/>
          <a:lstStyle/>
          <a:p>
            <a:pPr>
              <a:defRPr sz="1650">
                <a:solidFill>
                  <a:srgbClr val="526079"/>
                </a:solidFill>
                <a:latin typeface="Pretendard"/>
                <a:ea typeface="Pretendard"/>
              </a:defRPr>
            </a:pPr>
            <a:endParaRPr lang="en-US"/>
          </a:p>
        </c:txPr>
        <c:crossAx val="2068027336"/>
        <c:crosses val="autoZero"/>
        <c:majorUnit val="20"/>
      </c:valAx>
      <c:spPr>
        <a:noFill/>
        <a:ln>
          <a:noFill/>
        </a:ln>
      </c:spPr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pPr>
        <a:defRPr sz="1650">
          <a:solidFill>
            <a:srgbClr val="526079"/>
          </a:solidFill>
          <a:latin typeface="Pretendard"/>
          <a:ea typeface="Pretendard"/>
        </a:defRPr>
      </a:pPr>
      <a:endParaRPr lang="en-US"/>
    </a:p>
  </c:txPr>
  <c:externalData r:id="rId1">
    <c:autoUpdate val="0"/>
  </c:externalData>
</c:chartSpace>
</file>

<file path=ppt/charts/chart3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원인 구성비</c:v>
                </c:pt>
              </c:strCache>
            </c:strRef>
          </c:tx>
          <c:spPr>
            <a:solidFill>
              <a:srgbClr val="4472C4"/>
            </a:solidFill>
            <a:ln>
              <a:solidFill>
                <a:srgbClr val="4472C4"/>
              </a:solidFill>
            </a:ln>
          </c:spPr>
          <c:invertIfNegative val="0"/>
          <c:dPt>
            <c:idx val="0"/>
            <c:invertIfNegative val="0"/>
            <c:spPr>
              <a:solidFill>
                <a:srgbClr val="1E4D8F"/>
              </a:solidFill>
              <a:ln>
                <a:solidFill>
                  <a:srgbClr val="1E4D8F"/>
                </a:solidFill>
              </a:ln>
            </c:spPr>
          </c:dPt>
          <c:dPt>
            <c:idx val="1"/>
            <c:invertIfNegative val="0"/>
            <c:spPr>
              <a:solidFill>
                <a:srgbClr val="167F8D"/>
              </a:solidFill>
              <a:ln>
                <a:solidFill>
                  <a:srgbClr val="167F8D"/>
                </a:solidFill>
              </a:ln>
            </c:spPr>
          </c:dPt>
          <c:dPt>
            <c:idx val="2"/>
            <c:invertIfNegative val="0"/>
            <c:spPr>
              <a:solidFill>
                <a:srgbClr val="BAC5D3"/>
              </a:solidFill>
              <a:ln>
                <a:solidFill>
                  <a:srgbClr val="BAC5D3"/>
                </a:solidFill>
              </a:ln>
            </c:spPr>
          </c:dPt>
          <c:cat>
            <c:strRef>
              <c:f>Sheet1!$A$2:$A$4</c:f>
              <c:strCache>
                <c:ptCount val="3"/>
                <c:pt idx="0">
                  <c:v>진단 누락</c:v>
                </c:pt>
                <c:pt idx="1">
                  <c:v>부품 미확보</c:v>
                </c:pt>
                <c:pt idx="2">
                  <c:v>기타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</c:v>
                </c:pt>
                <c:pt idx="1">
                  <c:v>32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650">
                  <a:solidFill>
                    <a:srgbClr val="172033"/>
                  </a:solidFill>
                  <a:latin typeface="Pretendard"/>
                  <a:ea typeface="Pretendard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 cap="flat" cmpd="sng" algn="ctr">
            <a:solidFill>
              <a:srgbClr val="D8DEE8"/>
            </a:solidFill>
            <a:round/>
          </a:ln>
        </c:spPr>
        <c:txPr>
          <a:bodyPr/>
          <a:lstStyle/>
          <a:p>
            <a:pPr>
              <a:defRPr sz="1650">
                <a:solidFill>
                  <a:srgbClr val="526079"/>
                </a:solidFill>
                <a:latin typeface="Pretendard"/>
                <a:ea typeface="Pretendard"/>
              </a:defRPr>
            </a:pPr>
            <a:endParaRPr lang="en-US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6EBF1"/>
              </a:solidFill>
              <a:round/>
            </a:ln>
          </c:spPr>
        </c:majorGridlines>
        <c:majorTickMark val="out"/>
        <c:minorTickMark val="none"/>
        <c:tickLblPos val="nextTo"/>
        <c:spPr>
          <a:ln w="9525" cap="flat" cmpd="sng" algn="ctr">
            <a:solidFill>
              <a:srgbClr val="D8DEE8"/>
            </a:solidFill>
            <a:round/>
          </a:ln>
        </c:spPr>
        <c:txPr>
          <a:bodyPr/>
          <a:lstStyle/>
          <a:p>
            <a:pPr>
              <a:defRPr sz="1650">
                <a:solidFill>
                  <a:srgbClr val="526079"/>
                </a:solidFill>
                <a:latin typeface="Pretendard"/>
                <a:ea typeface="Pretendard"/>
              </a:defRPr>
            </a:pPr>
            <a:endParaRPr lang="en-US"/>
          </a:p>
        </c:txPr>
        <c:crossAx val="2068027336"/>
        <c:crosses val="autoZero"/>
      </c:valAx>
      <c:spPr>
        <a:noFill/>
        <a:ln>
          <a:noFill/>
        </a:ln>
      </c:spPr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pPr>
        <a:defRPr sz="1650">
          <a:solidFill>
            <a:srgbClr val="526079"/>
          </a:solidFill>
          <a:latin typeface="Pretendard"/>
          <a:ea typeface="Pretendard"/>
        </a:defRPr>
      </a:pPr>
      <a:endParaRPr lang="en-US"/>
    </a:p>
  </c:txPr>
  <c:externalData r:id="rId1">
    <c:autoUpdate val="0"/>
  </c:externalData>
</c:chartSpace>
</file>

<file path=ppt/notesSlides/_rels/notesSlide1_tf1.xml.rels><?xml version='1.0' encoding='utf-8'?>
<Relationships xmlns="http://schemas.openxmlformats.org/package/2006/relationships"><Relationship Id="rId1" Type="http://schemas.openxmlformats.org/officeDocument/2006/relationships/slide" Target="../slides/slide7.xml" /></Relationships>
</file>

<file path=ppt/notesSlides/notesSlide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dirty="0"/>
              <a:t>합성 fixture의 원본 발표자 노트입니다.</a:t>
            </a:r>
          </a:p>
        </p:txBody>
      </p:sp>
    </p:spTree>
  </p:cSld>
  <p:clrMapOvr>
    <a:masterClrMapping/>
  </p:clrMapOvr>
</p:note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Business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685800" y="666750"/>
            <a:ext cx="10820400" cy="723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3300"/>
            </a:lvl1pPr>
          </a:lstStyle>
          <a:p>
            <a:r>
              <a:rPr lang="ko-KR" sz="3300" b="1" dirty="0">
                <a:solidFill>
                  <a:srgbClr val="172033"/>
                </a:solidFill>
                <a:latin typeface="Pretendard"/>
                <a:ea typeface="Pretendard"/>
                <a:cs typeface="Pretendard"/>
              </a:rPr>
              <a:t>Click to add title</a:t>
            </a:r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Korean Business Exam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 sz="1800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2.xml" />
<Relationship Id="rId2" Type="http://schemas.openxmlformats.org/officeDocument/2006/relationships/notesSlide" Target="../notesSlides/notesSlide1_tf1.xml" /></Relationships>
</file>

<file path=ppt/slides/_rels/slide8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2.xml" />
  <Relationship Id="rId2" Type="http://schemas.openxmlformats.org/officeDocument/2006/relationships/chart" Target="../charts/chart201.xml" />
</Relationships>
</file>

<file path=ppt/slides/_rels/slide9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2.xml" />
  <Relationship Id="rId2" Type="http://schemas.openxmlformats.org/officeDocument/2006/relationships/chart" Target="../charts/chart301.xml" />
</Relationships>
</file>

<file path=ppt/slides/_rels/slide10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2.xml" />
</Relationships>
</file>

<file path=ppt/slides/_rels/slide1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2.xml" />
</Relationships>
</file>

<file path=ppt/slides/_rels/slide1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2.xml" />
</Relationships>
</file>

<file path=ppt/slides/slide7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Carrier"/>
          <p:cNvSpPr txBox="1"/>
          <p:nvPr>
            <p:ph type="title"/>
          </p:nvPr>
        </p:nvSpPr>
        <p:spPr>
          <a:xfrm>
            <a:off x="669036" y="767715"/>
            <a:ext cx="7123694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3300" b="1" dirty="0">
                <a:solidFill>
                  <a:srgbClr val="172033"/>
                </a:solidFill>
                <a:latin typeface="Pretendard"/>
                <a:ea typeface="Pretendard"/>
                <a:cs typeface="Pretendard"/>
              </a:rPr>
              <a:t>이번 작업</a:t>
            </a:r>
            <a:r>
              <a:rPr lang="ko-KR" sz="2400" b="0" dirty="0">
                <a:solidFill>
                  <a:srgbClr val="172033"/>
                </a:solidFill>
                <a:latin typeface="Pretendard"/>
                <a:ea typeface="Pretendard"/>
                <a:cs typeface="Pretendard"/>
              </a:rPr>
              <a:t> 결과 보고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75132" y="1583055"/>
            <a:ext cx="5901538" cy="410718"/>
            <a:chOff x="675132" y="1583055"/>
            <a:chExt cx="5901538" cy="410718"/>
          </a:xfrm>
        </p:grpSpPr>
        <p:sp>
          <p:nvSpPr>
            <p:cNvPr id="4" name="TextBox 4"/>
            <p:cNvSpPr txBox="1"/>
            <p:nvPr/>
          </p:nvSpPr>
          <p:spPr>
            <a:xfrm>
              <a:off x="675132" y="1583055"/>
              <a:ext cx="59015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가상 서비스 조직의 실행 우선순위와 판단 기준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66750" y="2419350"/>
            <a:ext cx="3704844" cy="2412873"/>
            <a:chOff x="666750" y="2419350"/>
            <a:chExt cx="3704844" cy="2412873"/>
          </a:xfrm>
        </p:grpSpPr>
        <p:sp>
          <p:nvSpPr>
            <p:cNvPr id="6" name="TextBox 6"/>
            <p:cNvSpPr txBox="1"/>
            <p:nvPr/>
          </p:nvSpPr>
          <p:spPr>
            <a:xfrm>
              <a:off x="666750" y="2419350"/>
              <a:ext cx="2073554" cy="1162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000" b="1" dirty="0">
                  <a:solidFill>
                    <a:srgbClr val="1E4D8F"/>
                  </a:solidFill>
                  <a:latin typeface="Pretendard"/>
                  <a:ea typeface="Pretendard"/>
                  <a:cs typeface="Pretendard"/>
                </a:rPr>
                <a:t>4.8%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75132" y="3373755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72033"/>
                  </a:solidFill>
                  <a:latin typeface="Pretendard"/>
                  <a:ea typeface="Pretendard"/>
                  <a:cs typeface="Pretendard"/>
                </a:rPr>
                <a:t>현재 재방문율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66750" y="3718560"/>
              <a:ext cx="146291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rgbClr val="167F8D"/>
                  </a:solidFill>
                  <a:latin typeface="Pretendard"/>
                  <a:ea typeface="Pretendard"/>
                  <a:cs typeface="Pretendard"/>
                </a:rPr>
                <a:t>3.6%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5132" y="4421505"/>
              <a:ext cx="369646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72033"/>
                  </a:solidFill>
                  <a:latin typeface="Pretendard"/>
                  <a:ea typeface="Pretendard"/>
                  <a:cs typeface="Pretendard"/>
                </a:rPr>
                <a:t>다음 분기 목표 · 1.2%p 감소</a:t>
              </a:r>
            </a:p>
          </p:txBody>
        </p:sp>
      </p:grpSp>
      <p:sp>
        <p:nvSpPr>
          <p:cNvPr id="11" name="Line 11"/>
          <p:cNvSpPr/>
          <p:nvPr/>
        </p:nvSpPr>
        <p:spPr>
          <a:xfrm>
            <a:off x="5619750" y="2524125"/>
            <a:ext cx="9525" cy="2905125"/>
          </a:xfrm>
          <a:custGeom>
            <a:avLst/>
            <a:gdLst/>
            <a:ahLst/>
            <a:cxnLst/>
            <a:rect l="l" t="t" r="r" b="b"/>
            <a:pathLst>
              <a:path w="9525" h="2905125">
                <a:moveTo>
                  <a:pt x="0" y="0"/>
                </a:moveTo>
                <a:lnTo>
                  <a:pt x="0" y="2905125"/>
                </a:lnTo>
              </a:path>
            </a:pathLst>
          </a:custGeom>
          <a:noFill/>
          <a:ln w="19050">
            <a:solidFill>
              <a:srgbClr val="D8DEE8"/>
            </a:solidFill>
          </a:ln>
        </p:spPr>
      </p:sp>
      <p:grpSp>
        <p:nvGrpSpPr>
          <p:cNvPr id="16" name="Group 16"/>
          <p:cNvGrpSpPr/>
          <p:nvPr/>
        </p:nvGrpSpPr>
        <p:grpSpPr>
          <a:xfrm>
            <a:off x="6275832" y="2630805"/>
            <a:ext cx="3517487" cy="2638234"/>
            <a:chOff x="6275832" y="2630805"/>
            <a:chExt cx="3517487" cy="2638234"/>
          </a:xfrm>
        </p:grpSpPr>
        <p:sp>
          <p:nvSpPr>
            <p:cNvPr id="12" name="TextBox 12"/>
            <p:cNvSpPr txBox="1"/>
            <p:nvPr/>
          </p:nvSpPr>
          <p:spPr>
            <a:xfrm>
              <a:off x="6275832" y="2630805"/>
              <a:ext cx="266318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172033"/>
                  </a:solidFill>
                  <a:latin typeface="Pretendard"/>
                  <a:ea typeface="Pretendard"/>
                  <a:cs typeface="Pretendard"/>
                </a:rPr>
                <a:t>집중할 두 가지 과제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275832" y="3297555"/>
              <a:ext cx="338549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72033"/>
                  </a:solidFill>
                  <a:latin typeface="Pretendard"/>
                  <a:ea typeface="Pretendard"/>
                  <a:cs typeface="Pretendard"/>
                </a:rPr>
                <a:t>방문 전 진단을 표준화한다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75832" y="3888105"/>
              <a:ext cx="338549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72033"/>
                  </a:solidFill>
                  <a:latin typeface="Pretendard"/>
                  <a:ea typeface="Pretendard"/>
                  <a:cs typeface="Pretendard"/>
                </a:rPr>
                <a:t>핵심 부품을 먼저 확보한다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278118" y="4946332"/>
              <a:ext cx="35152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판단 기준: 재방문율과 최초 해결률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79704" y="6347460"/>
            <a:ext cx="10832592" cy="234696"/>
            <a:chOff x="679704" y="6347460"/>
            <a:chExt cx="10832592" cy="234696"/>
          </a:xfrm>
        </p:grpSpPr>
        <p:sp>
          <p:nvSpPr>
            <p:cNvPr id="17" name="TextBox 17"/>
            <p:cNvSpPr txBox="1"/>
            <p:nvPr/>
          </p:nvSpPr>
          <p:spPr>
            <a:xfrm>
              <a:off x="679704" y="6347460"/>
              <a:ext cx="38165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합성자료 · 실제 회사 실적 아님 · 가상 2026년 3분기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22406" y="63474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01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c="http://schemas.openxmlformats.org/drawingml/2006/chart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Carrier"/>
          <p:cNvSpPr txBox="1"/>
          <p:nvPr>
            <p:ph type="title"/>
          </p:nvPr>
        </p:nvSpPr>
        <p:spPr>
          <a:xfrm>
            <a:off x="669036" y="767715"/>
            <a:ext cx="7053725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3300" b="1" dirty="0">
                <a:solidFill>
                  <a:srgbClr val="172033"/>
                </a:solidFill>
                <a:latin typeface="Pretendard"/>
                <a:ea typeface="Pretendard"/>
                <a:cs typeface="Pretendard"/>
              </a:rPr>
              <a:t>최초 해결률은 목표보다 6%p 낮다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75132" y="1583055"/>
            <a:ext cx="5816727" cy="410718"/>
            <a:chOff x="675132" y="1583055"/>
            <a:chExt cx="5816727" cy="410718"/>
          </a:xfrm>
        </p:grpSpPr>
        <p:sp>
          <p:nvSpPr>
            <p:cNvPr id="4" name="TextBox 4"/>
            <p:cNvSpPr txBox="1"/>
            <p:nvPr/>
          </p:nvSpPr>
          <p:spPr>
            <a:xfrm>
              <a:off x="675132" y="1583055"/>
              <a:ext cx="581672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현재 84%, 목표 90% · 비율 차이는 %p로 표시</a:t>
              </a:r>
            </a:p>
          </p:txBody>
        </p:sp>
      </p:grpSp>
      <p:graphicFrame>
        <p:nvGraphicFramePr>
          <p:cNvPr id="6" name="resolution-chart"/>
          <p:cNvGraphicFramePr>
            <a:graphicFrameLocks noGrp="1"/>
          </p:cNvGraphicFramePr>
          <p:nvPr/>
        </p:nvGraphicFramePr>
        <p:xfrm>
          <a:off x="685800" y="2514600"/>
          <a:ext cx="7239000" cy="3162300"/>
        </p:xfrm>
        <a:graphic>
          <a:graphicData uri="http://schemas.openxmlformats.org/drawingml/2006/chart">
            <c:chart r:id="rId2"/>
          </a:graphicData>
        </a:graphic>
      </p:graphicFrame>
      <p:grpSp>
        <p:nvGrpSpPr>
          <p:cNvPr id="10" name="Group 10"/>
          <p:cNvGrpSpPr/>
          <p:nvPr/>
        </p:nvGrpSpPr>
        <p:grpSpPr>
          <a:xfrm>
            <a:off x="8648700" y="2834640"/>
            <a:ext cx="2226450" cy="1862899"/>
            <a:chOff x="8648700" y="2834640"/>
            <a:chExt cx="2226450" cy="1862899"/>
          </a:xfrm>
        </p:grpSpPr>
        <p:sp>
          <p:nvSpPr>
            <p:cNvPr id="7" name="TextBox 7"/>
            <p:cNvSpPr txBox="1"/>
            <p:nvPr/>
          </p:nvSpPr>
          <p:spPr>
            <a:xfrm>
              <a:off x="8648700" y="2834640"/>
              <a:ext cx="1666464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rgbClr val="1E4D8F"/>
                  </a:solidFill>
                  <a:latin typeface="Pretendard"/>
                  <a:ea typeface="Pretendard"/>
                  <a:cs typeface="Pretendard"/>
                </a:rPr>
                <a:t>-6%p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57082" y="3773805"/>
              <a:ext cx="188716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72033"/>
                  </a:solidFill>
                  <a:latin typeface="Pretendard"/>
                  <a:ea typeface="Pretendard"/>
                  <a:cs typeface="Pretendard"/>
                </a:rPr>
                <a:t>목표 대비 격차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59368" y="4374832"/>
              <a:ext cx="22157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방문 전 진단부터 개선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79704" y="6347460"/>
            <a:ext cx="10832592" cy="234696"/>
            <a:chOff x="679704" y="6347460"/>
            <a:chExt cx="10832592" cy="234696"/>
          </a:xfrm>
        </p:grpSpPr>
        <p:sp>
          <p:nvSpPr>
            <p:cNvPr id="11" name="TextBox 11"/>
            <p:cNvSpPr txBox="1"/>
            <p:nvPr/>
          </p:nvSpPr>
          <p:spPr>
            <a:xfrm>
              <a:off x="679704" y="6347460"/>
              <a:ext cx="38165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합성자료 · 실제 회사 실적 아님 · 가상 2026년 3분기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22406" y="63474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c="http://schemas.openxmlformats.org/drawingml/2006/chart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Carrier"/>
          <p:cNvSpPr txBox="1"/>
          <p:nvPr>
            <p:ph type="title"/>
          </p:nvPr>
        </p:nvSpPr>
        <p:spPr>
          <a:xfrm>
            <a:off x="669036" y="767715"/>
            <a:ext cx="7170340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3300" b="1" dirty="0">
                <a:solidFill>
                  <a:srgbClr val="172033"/>
                </a:solidFill>
                <a:latin typeface="Pretendard"/>
                <a:ea typeface="Pretendard"/>
                <a:cs typeface="Pretendard"/>
              </a:rPr>
              <a:t>진단·부품 문제가 재방문의 80%다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75132" y="1583055"/>
            <a:ext cx="5152377" cy="410718"/>
            <a:chOff x="675132" y="1583055"/>
            <a:chExt cx="5152377" cy="410718"/>
          </a:xfrm>
        </p:grpSpPr>
        <p:sp>
          <p:nvSpPr>
            <p:cNvPr id="4" name="TextBox 4"/>
            <p:cNvSpPr txBox="1"/>
            <p:nvPr/>
          </p:nvSpPr>
          <p:spPr>
            <a:xfrm>
              <a:off x="675132" y="1583055"/>
              <a:ext cx="51523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가상 재방문 100건을 분류한 원인 구성비</a:t>
              </a:r>
            </a:p>
          </p:txBody>
        </p:sp>
      </p:grpSp>
      <p:graphicFrame>
        <p:nvGraphicFramePr>
          <p:cNvPr id="6" name="cause-chart"/>
          <p:cNvGraphicFramePr>
            <a:graphicFrameLocks noGrp="1"/>
          </p:cNvGraphicFramePr>
          <p:nvPr/>
        </p:nvGraphicFramePr>
        <p:xfrm>
          <a:off x="685800" y="2524125"/>
          <a:ext cx="7239000" cy="3238500"/>
        </p:xfrm>
        <a:graphic>
          <a:graphicData uri="http://schemas.openxmlformats.org/drawingml/2006/chart">
            <c:chart r:id="rId2"/>
          </a:graphicData>
        </a:graphic>
      </p:graphicFrame>
      <p:grpSp>
        <p:nvGrpSpPr>
          <p:cNvPr id="10" name="Group 10"/>
          <p:cNvGrpSpPr/>
          <p:nvPr/>
        </p:nvGrpSpPr>
        <p:grpSpPr>
          <a:xfrm>
            <a:off x="8648700" y="2758440"/>
            <a:ext cx="2545766" cy="1958149"/>
            <a:chOff x="8648700" y="2758440"/>
            <a:chExt cx="2545766" cy="1958149"/>
          </a:xfrm>
        </p:grpSpPr>
        <p:sp>
          <p:nvSpPr>
            <p:cNvPr id="7" name="TextBox 7"/>
            <p:cNvSpPr txBox="1"/>
            <p:nvPr/>
          </p:nvSpPr>
          <p:spPr>
            <a:xfrm>
              <a:off x="8648700" y="2758440"/>
              <a:ext cx="129329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rgbClr val="1E4D8F"/>
                  </a:solidFill>
                  <a:latin typeface="Pretendard"/>
                  <a:ea typeface="Pretendard"/>
                  <a:cs typeface="Pretendard"/>
                </a:rPr>
                <a:t>80%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57082" y="3754755"/>
              <a:ext cx="25373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72033"/>
                  </a:solidFill>
                  <a:latin typeface="Pretendard"/>
                  <a:ea typeface="Pretendard"/>
                  <a:cs typeface="Pretendard"/>
                </a:rPr>
                <a:t>두 원인에 먼저 집중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59368" y="4393882"/>
              <a:ext cx="17604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48% + 32% = 80%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79704" y="6347460"/>
            <a:ext cx="10832592" cy="234696"/>
            <a:chOff x="679704" y="6347460"/>
            <a:chExt cx="10832592" cy="234696"/>
          </a:xfrm>
        </p:grpSpPr>
        <p:sp>
          <p:nvSpPr>
            <p:cNvPr id="11" name="TextBox 11"/>
            <p:cNvSpPr txBox="1"/>
            <p:nvPr/>
          </p:nvSpPr>
          <p:spPr>
            <a:xfrm>
              <a:off x="679704" y="6347460"/>
              <a:ext cx="40104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합성자료 · 실제 회사 실적 아님 · 가상 원인 분류 100건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22406" y="63474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Carrier"/>
          <p:cNvSpPr txBox="1"/>
          <p:nvPr>
            <p:ph type="title"/>
          </p:nvPr>
        </p:nvSpPr>
        <p:spPr>
          <a:xfrm>
            <a:off x="669036" y="767715"/>
            <a:ext cx="7170340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3300" b="1" dirty="0">
                <a:solidFill>
                  <a:srgbClr val="172033"/>
                </a:solidFill>
                <a:latin typeface="Pretendard"/>
                <a:ea typeface="Pretendard"/>
                <a:cs typeface="Pretendard"/>
              </a:rPr>
              <a:t>12주 실행계획과 단계별 판단 기준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75132" y="1583055"/>
            <a:ext cx="6269050" cy="410718"/>
            <a:chOff x="675132" y="1583055"/>
            <a:chExt cx="6269050" cy="410718"/>
          </a:xfrm>
        </p:grpSpPr>
        <p:sp>
          <p:nvSpPr>
            <p:cNvPr id="4" name="TextBox 4"/>
            <p:cNvSpPr txBox="1"/>
            <p:nvPr/>
          </p:nvSpPr>
          <p:spPr>
            <a:xfrm>
              <a:off x="675132" y="1583055"/>
              <a:ext cx="62690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진단 기준 정비 후 시범 운영으로 효과를 확인한다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38200" y="2724150"/>
            <a:ext cx="10401300" cy="152400"/>
            <a:chOff x="838200" y="2724150"/>
            <a:chExt cx="10401300" cy="152400"/>
          </a:xfrm>
        </p:grpSpPr>
        <p:sp>
          <p:nvSpPr>
            <p:cNvPr id="6" name="Line 6"/>
            <p:cNvSpPr/>
            <p:nvPr/>
          </p:nvSpPr>
          <p:spPr>
            <a:xfrm>
              <a:off x="914400" y="2800350"/>
              <a:ext cx="10325100" cy="9525"/>
            </a:xfrm>
            <a:custGeom>
              <a:avLst/>
              <a:gdLst/>
              <a:ahLst/>
              <a:cxnLst/>
              <a:rect l="l" t="t" r="r" b="b"/>
              <a:pathLst>
                <a:path w="10325100" h="9525">
                  <a:moveTo>
                    <a:pt x="0" y="0"/>
                  </a:moveTo>
                  <a:lnTo>
                    <a:pt x="10325100" y="0"/>
                  </a:lnTo>
                </a:path>
              </a:pathLst>
            </a:custGeom>
            <a:noFill/>
            <a:ln w="38100">
              <a:solidFill>
                <a:srgbClr val="D8DEE8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838200" y="2724150"/>
              <a:ext cx="152400" cy="152400"/>
            </a:xfrm>
            <a:prstGeom prst="ellipse">
              <a:avLst/>
            </a:prstGeom>
            <a:solidFill>
              <a:srgbClr val="1E4D8F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4552950" y="2724150"/>
              <a:ext cx="152400" cy="152400"/>
            </a:xfrm>
            <a:prstGeom prst="ellipse">
              <a:avLst/>
            </a:prstGeom>
            <a:solidFill>
              <a:srgbClr val="167F8D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8267700" y="2724150"/>
              <a:ext cx="152400" cy="152400"/>
            </a:xfrm>
            <a:prstGeom prst="ellipse">
              <a:avLst/>
            </a:prstGeom>
            <a:solidFill>
              <a:srgbClr val="526079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75132" y="2279332"/>
            <a:ext cx="2495721" cy="2894457"/>
            <a:chOff x="675132" y="2279332"/>
            <a:chExt cx="2495721" cy="2894457"/>
          </a:xfrm>
        </p:grpSpPr>
        <p:sp>
          <p:nvSpPr>
            <p:cNvPr id="11" name="TextBox 11"/>
            <p:cNvSpPr txBox="1"/>
            <p:nvPr/>
          </p:nvSpPr>
          <p:spPr>
            <a:xfrm>
              <a:off x="677418" y="2279332"/>
              <a:ext cx="6348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1E4D8F"/>
                  </a:solidFill>
                  <a:latin typeface="Pretendard"/>
                  <a:ea typeface="Pretendard"/>
                  <a:cs typeface="Pretendard"/>
                </a:rPr>
                <a:t>1–2주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5132" y="3316605"/>
              <a:ext cx="198046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172033"/>
                  </a:solidFill>
                  <a:latin typeface="Pretendard"/>
                  <a:ea typeface="Pretendard"/>
                  <a:cs typeface="Pretendard"/>
                </a:rPr>
                <a:t>진단 기준 정비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5132" y="3945255"/>
              <a:ext cx="216987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72033"/>
                  </a:solidFill>
                  <a:latin typeface="Pretendard"/>
                  <a:ea typeface="Pretendard"/>
                  <a:cs typeface="Pretendard"/>
                </a:rPr>
                <a:t>점검 항목을 통일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7418" y="4851082"/>
              <a:ext cx="2493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산출물: 진단 체크리스트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389882" y="2279332"/>
            <a:ext cx="2663186" cy="2894457"/>
            <a:chOff x="4389882" y="2279332"/>
            <a:chExt cx="2663186" cy="2894457"/>
          </a:xfrm>
        </p:grpSpPr>
        <p:sp>
          <p:nvSpPr>
            <p:cNvPr id="16" name="TextBox 16"/>
            <p:cNvSpPr txBox="1"/>
            <p:nvPr/>
          </p:nvSpPr>
          <p:spPr>
            <a:xfrm>
              <a:off x="4392168" y="2279332"/>
              <a:ext cx="6348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167F8D"/>
                  </a:solidFill>
                  <a:latin typeface="Pretendard"/>
                  <a:ea typeface="Pretendard"/>
                  <a:cs typeface="Pretendard"/>
                </a:rPr>
                <a:t>3–6주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389882" y="3316605"/>
              <a:ext cx="266318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172033"/>
                  </a:solidFill>
                  <a:latin typeface="Pretendard"/>
                  <a:ea typeface="Pretendard"/>
                  <a:cs typeface="Pretendard"/>
                </a:rPr>
                <a:t>두 팀에서 시범 운영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389882" y="3945255"/>
              <a:ext cx="25373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72033"/>
                  </a:solidFill>
                  <a:latin typeface="Pretendard"/>
                  <a:ea typeface="Pretendard"/>
                  <a:cs typeface="Pretendard"/>
                </a:rPr>
                <a:t>핵심 부품 사전 확보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392168" y="4851082"/>
              <a:ext cx="23379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판단: 최초 해결률 개선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104632" y="2279332"/>
            <a:ext cx="2735275" cy="2894457"/>
            <a:chOff x="8104632" y="2279332"/>
            <a:chExt cx="2735275" cy="2894457"/>
          </a:xfrm>
        </p:grpSpPr>
        <p:sp>
          <p:nvSpPr>
            <p:cNvPr id="21" name="TextBox 21"/>
            <p:cNvSpPr txBox="1"/>
            <p:nvPr/>
          </p:nvSpPr>
          <p:spPr>
            <a:xfrm>
              <a:off x="8106918" y="2279332"/>
              <a:ext cx="7630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7–12주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04632" y="3316605"/>
              <a:ext cx="198046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172033"/>
                  </a:solidFill>
                  <a:latin typeface="Pretendard"/>
                  <a:ea typeface="Pretendard"/>
                  <a:cs typeface="Pretendard"/>
                </a:rPr>
                <a:t>확대 여부 결정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04632" y="3945255"/>
              <a:ext cx="273527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72033"/>
                  </a:solidFill>
                  <a:latin typeface="Pretendard"/>
                  <a:ea typeface="Pretendard"/>
                  <a:cs typeface="Pretendard"/>
                </a:rPr>
                <a:t>재방문율을 주간 점검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06918" y="4851082"/>
              <a:ext cx="22046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판단: 목표 3.6% 도달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79704" y="6347460"/>
            <a:ext cx="10832592" cy="234696"/>
            <a:chOff x="679704" y="6347460"/>
            <a:chExt cx="10832592" cy="234696"/>
          </a:xfrm>
        </p:grpSpPr>
        <p:sp>
          <p:nvSpPr>
            <p:cNvPr id="26" name="TextBox 26"/>
            <p:cNvSpPr txBox="1"/>
            <p:nvPr/>
          </p:nvSpPr>
          <p:spPr>
            <a:xfrm>
              <a:off x="679704" y="6347460"/>
              <a:ext cx="36953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합성자료 · 실제 회사 실적 아님 · 가상 일정과 목표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322406" y="63474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Carrier"/>
          <p:cNvSpPr txBox="1"/>
          <p:nvPr>
            <p:ph type="title"/>
          </p:nvPr>
        </p:nvSpPr>
        <p:spPr>
          <a:xfrm>
            <a:off x="669036" y="767715"/>
            <a:ext cx="7963319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3300" b="1" dirty="0">
                <a:solidFill>
                  <a:srgbClr val="172033"/>
                </a:solidFill>
                <a:latin typeface="Pretendard"/>
                <a:ea typeface="Pretendard"/>
                <a:cs typeface="Pretendard"/>
              </a:rPr>
              <a:t>담당·기한·검증 기준을 함께 관리한다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75132" y="1583055"/>
            <a:ext cx="6014618" cy="410718"/>
            <a:chOff x="675132" y="1583055"/>
            <a:chExt cx="6014618" cy="410718"/>
          </a:xfrm>
        </p:grpSpPr>
        <p:sp>
          <p:nvSpPr>
            <p:cNvPr id="4" name="TextBox 4"/>
            <p:cNvSpPr txBox="1"/>
            <p:nvPr/>
          </p:nvSpPr>
          <p:spPr>
            <a:xfrm>
              <a:off x="675132" y="1583055"/>
              <a:ext cx="601461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가상 실행 과제 3개 · 담당자는 역할명으로 표시</a:t>
              </a:r>
            </a:p>
          </p:txBody>
        </p:sp>
      </p:grpSp>
      <p:graphicFrame>
        <p:nvGraphicFramePr>
          <p:cNvPr id="6" name="action-table"/>
          <p:cNvGraphicFramePr>
            <a:graphicFrameLocks noGrp="1"/>
          </p:cNvGraphicFramePr>
          <p:nvPr/>
        </p:nvGraphicFramePr>
        <p:xfrm>
          <a:off x="685800" y="2476500"/>
          <a:ext cx="10820400" cy="30480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810000"/>
                <a:gridCol w="1619250"/>
                <a:gridCol w="1714500"/>
                <a:gridCol w="3676650"/>
              </a:tblGrid>
              <a:tr h="762000">
                <a:tc>
                  <a:txBody>
                    <a:bodyPr/>
                    <a:lstStyle/>
                    <a:p>
                      <a:pPr algn="ctr"/>
                      <a:r>
                        <a:rPr lang="ko-KR" sz="16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과제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1E4D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6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담당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1E4D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6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기한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1E4D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6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검증 기준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1E4D8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/>
                      <a:r>
                        <a:rPr lang="ko-KR" sz="16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방문 전 진단 표준화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ko-KR" sz="16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지원팀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ko-KR" sz="16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2주차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ko-KR" sz="16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체크리스트 적용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/>
                      <a:r>
                        <a:rPr lang="ko-KR" sz="16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핵심 부품 사전 확보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ko-KR" sz="16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자재팀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ko-KR" sz="16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6주차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ko-KR" sz="16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부품 준비율 95%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/>
                      <a:r>
                        <a:rPr lang="ko-KR" sz="16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재방문 원인 주간 점검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ko-KR" sz="16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품질팀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ko-KR" sz="16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12주차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ko-KR" sz="16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재방문율 3.6%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9" name="Group 9"/>
          <p:cNvGrpSpPr/>
          <p:nvPr/>
        </p:nvGrpSpPr>
        <p:grpSpPr>
          <a:xfrm>
            <a:off x="679704" y="6347460"/>
            <a:ext cx="10832592" cy="234696"/>
            <a:chOff x="679704" y="6347460"/>
            <a:chExt cx="10832592" cy="234696"/>
          </a:xfrm>
        </p:grpSpPr>
        <p:sp>
          <p:nvSpPr>
            <p:cNvPr id="7" name="TextBox 7"/>
            <p:cNvSpPr txBox="1"/>
            <p:nvPr/>
          </p:nvSpPr>
          <p:spPr>
            <a:xfrm>
              <a:off x="679704" y="6347460"/>
              <a:ext cx="39861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합성자료 · 실제 회사 실적 아님 · 가상 과제·담당·기한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22406" y="63474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05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Carrier"/>
          <p:cNvSpPr txBox="1"/>
          <p:nvPr>
            <p:ph type="title"/>
          </p:nvPr>
        </p:nvSpPr>
        <p:spPr>
          <a:xfrm>
            <a:off x="669036" y="767715"/>
            <a:ext cx="838753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3300" b="1" dirty="0">
                <a:solidFill>
                  <a:srgbClr val="172033"/>
                </a:solidFill>
                <a:latin typeface="Pretendard"/>
                <a:ea typeface="Pretendard"/>
                <a:cs typeface="Pretendard"/>
              </a:rPr>
              <a:t>고객 접점 AI 도입 전 운영 리스크 점검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75132" y="1583055"/>
            <a:ext cx="7117156" cy="410718"/>
            <a:chOff x="675132" y="1583055"/>
            <a:chExt cx="7117156" cy="410718"/>
          </a:xfrm>
        </p:grpSpPr>
        <p:sp>
          <p:nvSpPr>
            <p:cNvPr id="4" name="TextBox 4"/>
            <p:cNvSpPr txBox="1"/>
            <p:nvPr/>
          </p:nvSpPr>
          <p:spPr>
            <a:xfrm>
              <a:off x="675132" y="1583055"/>
              <a:ext cx="71171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혼합 언어 제목과 표의 수용량을 검증하는 가상 시나리오</a:t>
              </a:r>
            </a:p>
          </p:txBody>
        </p:sp>
      </p:grpSp>
      <p:graphicFrame>
        <p:nvGraphicFramePr>
          <p:cNvPr id="6" name="risk-table"/>
          <p:cNvGraphicFramePr>
            <a:graphicFrameLocks noGrp="1"/>
          </p:cNvGraphicFramePr>
          <p:nvPr/>
        </p:nvGraphicFramePr>
        <p:xfrm>
          <a:off x="685800" y="2476500"/>
          <a:ext cx="10820400" cy="30480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810000"/>
                <a:gridCol w="3333750"/>
                <a:gridCol w="3676650"/>
              </a:tblGrid>
              <a:tr h="762000">
                <a:tc>
                  <a:txBody>
                    <a:bodyPr/>
                    <a:lstStyle/>
                    <a:p>
                      <a:pPr algn="ctr"/>
                      <a:r>
                        <a:rPr lang="ko-KR" sz="16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리스크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1E4D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6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확인 신호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1E4D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6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대응 기준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1E4D8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/>
                      <a:r>
                        <a:rPr lang="ko-KR" sz="16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불필요한 고객정보 노출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ko-KR" sz="16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권한 밖 조회 발생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ko-KR" sz="16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접근 권한과 로그 점검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/>
                      <a:r>
                        <a:rPr lang="ko-KR" sz="16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잘못된 진단 제안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ko-KR" sz="16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시범 검증에서 오류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ko-KR" sz="16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담당자가 최종 판단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/>
                      <a:r>
                        <a:rPr lang="ko-KR" sz="16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현장 교육 시간 부족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ko-KR" sz="16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참여율 목표 미달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ko-KR" sz="16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주간 교육 일정 확보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9" name="Group 9"/>
          <p:cNvGrpSpPr/>
          <p:nvPr/>
        </p:nvGrpSpPr>
        <p:grpSpPr>
          <a:xfrm>
            <a:off x="679704" y="6347460"/>
            <a:ext cx="10832592" cy="234696"/>
            <a:chOff x="679704" y="6347460"/>
            <a:chExt cx="10832592" cy="234696"/>
          </a:xfrm>
        </p:grpSpPr>
        <p:sp>
          <p:nvSpPr>
            <p:cNvPr id="7" name="TextBox 7"/>
            <p:cNvSpPr txBox="1"/>
            <p:nvPr/>
          </p:nvSpPr>
          <p:spPr>
            <a:xfrm>
              <a:off x="679704" y="6347460"/>
              <a:ext cx="40669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합성자료 · 실제 회사 실적 아님 · 가상 리스크 점검 사례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22406" y="63474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06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2026-10-06T11:57:55Z</dcterms:created>
  <dcterms:modified xsi:type="dcterms:W3CDTF">2026-10-06T11:57:55Z</dcterms:modified>
  <cp:category/>
  <cp:contentStatus/>
</cp:coreProperties>
</file>