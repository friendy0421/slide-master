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charts/chart2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최초 해결률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E4D8F"/>
              </a:solidFill>
              <a:ln>
                <a:solidFill>
                  <a:srgbClr val="1E4D8F"/>
                </a:solidFill>
              </a:ln>
            </c:spPr>
          </c:dPt>
          <c:dPt>
            <c:idx val="1"/>
            <c:invertIfNegative val="0"/>
            <c:spPr>
              <a:solidFill>
                <a:srgbClr val="167F8D"/>
              </a:solidFill>
              <a:ln>
                <a:solidFill>
                  <a:srgbClr val="167F8D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현재</c:v>
                </c:pt>
                <c:pt idx="1">
                  <c:v>목표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50">
                  <a:solidFill>
                    <a:srgbClr val="172033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  <c:majorUnit val="20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sz="1650">
          <a:solidFill>
            <a:srgbClr val="526079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usines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66675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300"/>
            </a:lvl1pPr>
          </a:lstStyle>
          <a:p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Korean Business Exam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chart" Target="../charts/chart201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2369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재방문 감소가 다음 분기 우선과제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901538" cy="410718"/>
            <a:chOff x="675132" y="1583055"/>
            <a:chExt cx="5901538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9015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서비스 조직의 실행 우선순위와 판단 기준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2419350"/>
            <a:ext cx="3704844" cy="2412873"/>
            <a:chOff x="666750" y="2419350"/>
            <a:chExt cx="3704844" cy="2412873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2419350"/>
              <a:ext cx="2073554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4.8%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5132" y="33737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현재 재방문율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371856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167F8D"/>
                  </a:solidFill>
                  <a:latin typeface="Pretendard"/>
                  <a:ea typeface="Pretendard"/>
                  <a:cs typeface="Pretendard"/>
                </a:rPr>
                <a:t>3.6%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132" y="44215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다음 분기 목표 · 1.2%p 감소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5619750" y="2524125"/>
            <a:ext cx="9525" cy="2905125"/>
          </a:xfrm>
          <a:custGeom>
            <a:avLst/>
            <a:gdLst/>
            <a:ahLst/>
            <a:cxnLst/>
            <a:rect l="l" t="t" r="r" b="b"/>
            <a:pathLst>
              <a:path w="9525"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9050">
            <a:solidFill>
              <a:srgbClr val="D8DEE8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6275832" y="2630805"/>
            <a:ext cx="3517487" cy="2638234"/>
            <a:chOff x="6275832" y="2630805"/>
            <a:chExt cx="3517487" cy="2638234"/>
          </a:xfrm>
        </p:grpSpPr>
        <p:sp>
          <p:nvSpPr>
            <p:cNvPr id="12" name="TextBox 12"/>
            <p:cNvSpPr txBox="1"/>
            <p:nvPr/>
          </p:nvSpPr>
          <p:spPr>
            <a:xfrm>
              <a:off x="6275832" y="2630805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집중할 두 가지 과제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5832" y="3297555"/>
              <a:ext cx="33854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방문 전 진단을 표준화한다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5832" y="3888105"/>
              <a:ext cx="33854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핵심 부품을 먼저 확보한다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8118" y="494633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 기준: 재방문율과 최초 해결률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679704" y="63474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2026년 3분기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05372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최초 해결률은 목표보다 6%p 낮다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816727" cy="410718"/>
            <a:chOff x="675132" y="1583055"/>
            <a:chExt cx="5816727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8167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현재 84%, 목표 90% · 비율 차이는 %p로 표시</a:t>
              </a:r>
            </a:p>
          </p:txBody>
        </p:sp>
      </p:grpSp>
      <p:graphicFrame>
        <p:nvGraphicFramePr>
          <p:cNvPr id="6" name="resolution-chart"/>
          <p:cNvGraphicFramePr>
            <a:graphicFrameLocks noGrp="1"/>
          </p:cNvGraphicFramePr>
          <p:nvPr/>
        </p:nvGraphicFramePr>
        <p:xfrm>
          <a:off x="685800" y="2514600"/>
          <a:ext cx="7239000" cy="3162300"/>
        </p:xfrm>
        <a:graphic>
          <a:graphicData uri="http://schemas.openxmlformats.org/drawingml/2006/chart">
            <ns2:chart r:id="rId2"/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8648700" y="2834640"/>
            <a:ext cx="2226450" cy="1862899"/>
            <a:chOff x="8648700" y="2834640"/>
            <a:chExt cx="2226450" cy="1862899"/>
          </a:xfrm>
        </p:grpSpPr>
        <p:sp>
          <p:nvSpPr>
            <p:cNvPr id="7" name="TextBox 7"/>
            <p:cNvSpPr txBox="1"/>
            <p:nvPr/>
          </p:nvSpPr>
          <p:spPr>
            <a:xfrm>
              <a:off x="8648700" y="2834640"/>
              <a:ext cx="166646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-6%p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7082" y="3773805"/>
              <a:ext cx="18871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목표 대비 격차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9368" y="4374832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방문 전 진단부터 개선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63474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2026년 3분기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7034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12주 실행계획과 단계별 판단 기준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6269050" cy="410718"/>
            <a:chOff x="675132" y="1583055"/>
            <a:chExt cx="6269050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62690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진단 기준 정비 후 시범 운영으로 효과를 확인한다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8200" y="2724150"/>
            <a:ext cx="10401300" cy="152400"/>
            <a:chOff x="838200" y="2724150"/>
            <a:chExt cx="10401300" cy="152400"/>
          </a:xfrm>
        </p:grpSpPr>
        <p:sp>
          <p:nvSpPr>
            <p:cNvPr id="6" name="Line 6"/>
            <p:cNvSpPr/>
            <p:nvPr/>
          </p:nvSpPr>
          <p:spPr>
            <a:xfrm>
              <a:off x="914400" y="280035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38100">
              <a:solidFill>
                <a:srgbClr val="D8DEE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724150"/>
              <a:ext cx="152400" cy="152400"/>
            </a:xfrm>
            <a:prstGeom prst="ellipse">
              <a:avLst/>
            </a:prstGeom>
            <a:solidFill>
              <a:srgbClr val="1E4D8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552950" y="2724150"/>
              <a:ext cx="152400" cy="152400"/>
            </a:xfrm>
            <a:prstGeom prst="ellipse">
              <a:avLst/>
            </a:prstGeom>
            <a:solidFill>
              <a:srgbClr val="167F8D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267700" y="2724150"/>
              <a:ext cx="152400" cy="152400"/>
            </a:xfrm>
            <a:prstGeom prst="ellipse">
              <a:avLst/>
            </a:prstGeom>
            <a:solidFill>
              <a:srgbClr val="52607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132" y="2279332"/>
            <a:ext cx="2495721" cy="2894457"/>
            <a:chOff x="675132" y="2279332"/>
            <a:chExt cx="2495721" cy="289445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2279332"/>
              <a:ext cx="63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1–2주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3166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진단 기준 정비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132" y="3945255"/>
              <a:ext cx="21698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점검 항목을 통일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7418" y="48510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산출물: 진단 체크리스트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9882" y="2279332"/>
            <a:ext cx="2663186" cy="2894457"/>
            <a:chOff x="4389882" y="2279332"/>
            <a:chExt cx="2663186" cy="2894457"/>
          </a:xfrm>
        </p:grpSpPr>
        <p:sp>
          <p:nvSpPr>
            <p:cNvPr id="16" name="TextBox 16"/>
            <p:cNvSpPr txBox="1"/>
            <p:nvPr/>
          </p:nvSpPr>
          <p:spPr>
            <a:xfrm>
              <a:off x="4392168" y="2279332"/>
              <a:ext cx="63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67F8D"/>
                  </a:solidFill>
                  <a:latin typeface="Pretendard"/>
                  <a:ea typeface="Pretendard"/>
                  <a:cs typeface="Pretendard"/>
                </a:rPr>
                <a:t>3–6주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89882" y="3316605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두 팀에서 시범 운영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89882" y="3945255"/>
              <a:ext cx="25373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핵심 부품 사전 확보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2168" y="485108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판단: 최초 해결률 개선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04632" y="2279332"/>
            <a:ext cx="2735275" cy="2894457"/>
            <a:chOff x="8104632" y="2279332"/>
            <a:chExt cx="2735275" cy="2894457"/>
          </a:xfrm>
        </p:grpSpPr>
        <p:sp>
          <p:nvSpPr>
            <p:cNvPr id="21" name="TextBox 21"/>
            <p:cNvSpPr txBox="1"/>
            <p:nvPr/>
          </p:nvSpPr>
          <p:spPr>
            <a:xfrm>
              <a:off x="8106918" y="2279332"/>
              <a:ext cx="7630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7–12주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4632" y="33166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확대 여부 결정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3945255"/>
              <a:ext cx="27352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재방문율을 주간 점검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6918" y="4851082"/>
              <a:ext cx="2204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판단: 목표 3.6% 도달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79704" y="6347460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일정과 목표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2026-10-06T12:51:57Z</dcterms:created>
  <dcterms:modified xsi:type="dcterms:W3CDTF">2026-10-06T12:51:57Z</dcterms:modified>
  <cp:category/>
  <cp:contentStatus/>
</cp:coreProperties>
</file>