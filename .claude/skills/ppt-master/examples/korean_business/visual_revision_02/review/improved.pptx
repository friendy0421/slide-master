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2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최초 해결률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42C36"/>
              </a:solidFill>
              <a:ln>
                <a:solidFill>
                  <a:srgbClr val="142C36"/>
                </a:solidFill>
              </a:ln>
            </c:spPr>
          </c:dPt>
          <c:dPt>
            <c:idx val="1"/>
            <c:invertIfNegative val="0"/>
            <c:spPr>
              <a:solidFill>
                <a:srgbClr val="218B79"/>
              </a:solidFill>
              <a:ln>
                <a:solidFill>
                  <a:srgbClr val="218B79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현재</c:v>
                </c:pt>
                <c:pt idx="1">
                  <c:v>목표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400" b="1">
                  <a:solidFill>
                    <a:srgbClr val="142C36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AE3E3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57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DAE3E3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57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5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2100">
          <a:solidFill>
            <a:srgbClr val="557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isual Revie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971550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ko-KR" sz="3600" b="1" dirty="0">
                <a:solidFill>
                  <a:srgbClr val="F8F7F2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Business Visual Revie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201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42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77418" y="488632"/>
            <a:ext cx="3815067" cy="322707"/>
            <a:chOff x="677418" y="488632"/>
            <a:chExt cx="3815067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488632"/>
              <a:ext cx="3815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서비스 운영 전략 / 가상 2026년 3분기</a:t>
              </a:r>
            </a:p>
          </p:txBody>
        </p:sp>
      </p:grpSp>
      <p:sp>
        <p:nvSpPr>
          <p:cNvPr id="4" name="title Placeholder Carrier"/>
          <p:cNvSpPr txBox="1"/>
          <p:nvPr>
            <p:ph type="title"/>
          </p:nvPr>
        </p:nvSpPr>
        <p:spPr>
          <a:xfrm>
            <a:off x="667512" y="1040130"/>
            <a:ext cx="390393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rgbClr val="F8F7F2"/>
                </a:solidFill>
                <a:latin typeface="Pretendard"/>
                <a:ea typeface="Pretendard"/>
                <a:cs typeface="Pretendard"/>
              </a:rPr>
              <a:t>재방문 감소 전략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0550" y="2002155"/>
            <a:ext cx="4162196" cy="2522220"/>
            <a:chOff x="590550" y="2002155"/>
            <a:chExt cx="4162196" cy="2522220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2002155"/>
              <a:ext cx="3102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다음 분기 재방문율 목표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505075"/>
              <a:ext cx="3600145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0" b="1" dirty="0">
                  <a:solidFill>
                    <a:srgbClr val="7DD7C5"/>
                  </a:solidFill>
                  <a:latin typeface="Pretendard"/>
                  <a:ea typeface="Pretendard"/>
                  <a:cs typeface="Pretendard"/>
                </a:rPr>
                <a:t>3.6%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4046220"/>
              <a:ext cx="40791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dirty="0">
                  <a:solidFill>
                    <a:srgbClr val="F8F7F2"/>
                  </a:solidFill>
                  <a:latin typeface="Pretendard"/>
                  <a:ea typeface="Pretendard"/>
                  <a:cs typeface="Pretendard"/>
                </a:rPr>
                <a:t>현재 4.8% 대비 1.2%p 감소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99632" y="2002155"/>
            <a:ext cx="5306568" cy="2887218"/>
            <a:chOff x="6199632" y="2002155"/>
            <a:chExt cx="5306568" cy="2887218"/>
          </a:xfrm>
        </p:grpSpPr>
        <p:sp>
          <p:nvSpPr>
            <p:cNvPr id="10" name="TextBox 10"/>
            <p:cNvSpPr txBox="1"/>
            <p:nvPr/>
          </p:nvSpPr>
          <p:spPr>
            <a:xfrm>
              <a:off x="6199632" y="2002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F8F7F2"/>
                  </a:solidFill>
                  <a:latin typeface="Pretendard"/>
                  <a:ea typeface="Pretendard"/>
                  <a:cs typeface="Pretendard"/>
                </a:rPr>
                <a:t>우선과제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210300" y="25146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52707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01918" y="28317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DD7C5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7708" y="2750820"/>
              <a:ext cx="30436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8F7F2"/>
                  </a:solidFill>
                  <a:latin typeface="Pretendard"/>
                  <a:ea typeface="Pretendard"/>
                  <a:cs typeface="Pretendard"/>
                </a:rPr>
                <a:t>방문 전 진단 표준화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9232" y="3230880"/>
              <a:ext cx="3102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점검 항목을 하나로 통일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210300" y="3771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5270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01918" y="4079558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DD7C5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7708" y="3998595"/>
              <a:ext cx="30436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8F7F2"/>
                  </a:solidFill>
                  <a:latin typeface="Pretendard"/>
                  <a:ea typeface="Pretendard"/>
                  <a:cs typeface="Pretendard"/>
                </a:rPr>
                <a:t>핵심 부품 사전 확보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9232" y="4478655"/>
              <a:ext cx="31875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두 팀 시범 운영에서 확인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7418" y="5257800"/>
            <a:ext cx="10828782" cy="641223"/>
            <a:chOff x="677418" y="5257800"/>
            <a:chExt cx="10828782" cy="641223"/>
          </a:xfrm>
        </p:grpSpPr>
        <p:sp>
          <p:nvSpPr>
            <p:cNvPr id="20" name="Line 20"/>
            <p:cNvSpPr/>
            <p:nvPr/>
          </p:nvSpPr>
          <p:spPr>
            <a:xfrm>
              <a:off x="685800" y="525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52707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418" y="5536882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7DD7C5"/>
                  </a:solidFill>
                  <a:latin typeface="Pretendard"/>
                  <a:ea typeface="Pretendard"/>
                  <a:cs typeface="Pretendard"/>
                </a:rPr>
                <a:t>판단 지표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9632" y="5488305"/>
              <a:ext cx="46011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F8F7F2"/>
                  </a:solidFill>
                  <a:latin typeface="Pretendard"/>
                  <a:ea typeface="Pretendard"/>
                  <a:cs typeface="Pretendard"/>
                </a:rPr>
                <a:t>재방문율과 최초 해결률을 함께 점검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328410"/>
            <a:ext cx="10832592" cy="234696"/>
            <a:chOff x="679704" y="6328410"/>
            <a:chExt cx="108325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6328410"/>
              <a:ext cx="4260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기준일 2026-09-30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22406" y="632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B4C9CC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77418" y="488632"/>
            <a:ext cx="3082061" cy="322707"/>
            <a:chOff x="677418" y="488632"/>
            <a:chExt cx="3082061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488632"/>
              <a:ext cx="30820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성과 점검 / 가상 2026년 3분기</a:t>
              </a:r>
            </a:p>
          </p:txBody>
        </p:sp>
      </p:grpSp>
      <p:sp>
        <p:nvSpPr>
          <p:cNvPr id="4" name="title Placeholder Carrier"/>
          <p:cNvSpPr txBox="1"/>
          <p:nvPr>
            <p:ph type="title"/>
          </p:nvPr>
        </p:nvSpPr>
        <p:spPr>
          <a:xfrm>
            <a:off x="667512" y="1040130"/>
            <a:ext cx="769497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rgbClr val="142C36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5132" y="2002155"/>
            <a:ext cx="2277298" cy="410718"/>
            <a:chOff x="675132" y="2002155"/>
            <a:chExt cx="227729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2002155"/>
              <a:ext cx="22772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최초 해결률 비교</a:t>
              </a:r>
            </a:p>
          </p:txBody>
        </p:sp>
      </p:grpSp>
      <p:graphicFrame>
        <p:nvGraphicFramePr>
          <p:cNvPr id="8" name="resolution-chart"/>
          <p:cNvGraphicFramePr>
            <a:graphicFrameLocks noGrp="1"/>
          </p:cNvGraphicFramePr>
          <p:nvPr/>
        </p:nvGraphicFramePr>
        <p:xfrm>
          <a:off x="685800" y="2552700"/>
          <a:ext cx="7448550" cy="238125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8763000" y="2526982"/>
            <a:ext cx="2429759" cy="2171891"/>
            <a:chOff x="8763000" y="2526982"/>
            <a:chExt cx="2429759" cy="2171891"/>
          </a:xfrm>
        </p:grpSpPr>
        <p:sp>
          <p:nvSpPr>
            <p:cNvPr id="9" name="TextBox 9"/>
            <p:cNvSpPr txBox="1"/>
            <p:nvPr/>
          </p:nvSpPr>
          <p:spPr>
            <a:xfrm>
              <a:off x="8830818" y="2526982"/>
              <a:ext cx="1482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목표 대비 격차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63000" y="3087052"/>
              <a:ext cx="2429759" cy="1362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050" b="1" dirty="0">
                  <a:solidFill>
                    <a:srgbClr val="B75135"/>
                  </a:solidFill>
                  <a:latin typeface="Pretendard"/>
                  <a:ea typeface="Pretendard"/>
                  <a:cs typeface="Pretendard"/>
                </a:rPr>
                <a:t>-6%p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28532" y="4288155"/>
              <a:ext cx="13924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84% − 90%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7418" y="5257800"/>
            <a:ext cx="10828782" cy="944689"/>
            <a:chOff x="677418" y="5257800"/>
            <a:chExt cx="10828782" cy="944689"/>
          </a:xfrm>
        </p:grpSpPr>
        <p:sp>
          <p:nvSpPr>
            <p:cNvPr id="13" name="Line 13"/>
            <p:cNvSpPr/>
            <p:nvPr/>
          </p:nvSpPr>
          <p:spPr>
            <a:xfrm>
              <a:off x="685800" y="525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AE3E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7418" y="5489258"/>
              <a:ext cx="1194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개선 출발점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18232" y="5440680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방문 전 진단 표준화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7418" y="5879782"/>
              <a:ext cx="57031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재방문율도 함께 점검 · 현재 4.8%, 다음 분기 목표 3.6%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9704" y="6442710"/>
            <a:ext cx="10832592" cy="234696"/>
            <a:chOff x="679704" y="6442710"/>
            <a:chExt cx="108325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79704" y="6442710"/>
              <a:ext cx="5771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기준일 2026-09-30 · 비율 차이 단위 %p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22406" y="644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77418" y="488632"/>
            <a:ext cx="2715558" cy="322707"/>
            <a:chOff x="677418" y="488632"/>
            <a:chExt cx="2715558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488632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실행 계획 / 가상 12주 일정</a:t>
              </a:r>
            </a:p>
          </p:txBody>
        </p:sp>
      </p:grpSp>
      <p:sp>
        <p:nvSpPr>
          <p:cNvPr id="4" name="title Placeholder Carrier"/>
          <p:cNvSpPr txBox="1"/>
          <p:nvPr>
            <p:ph type="title"/>
          </p:nvPr>
        </p:nvSpPr>
        <p:spPr>
          <a:xfrm>
            <a:off x="667512" y="1040130"/>
            <a:ext cx="39548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rgbClr val="142C36"/>
                </a:solidFill>
                <a:latin typeface="Pretendard"/>
                <a:ea typeface="Pretendard"/>
                <a:cs typeface="Pretendard"/>
              </a:rPr>
              <a:t>12주 실행 로드맵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5132" y="1868805"/>
            <a:ext cx="6438671" cy="410718"/>
            <a:chOff x="675132" y="1868805"/>
            <a:chExt cx="643867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868805"/>
              <a:ext cx="64386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진단 기준 정비 후 두 팀 시범 운영으로 효과를 확인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7418" y="2488882"/>
            <a:ext cx="10190607" cy="2911793"/>
            <a:chOff x="677418" y="2488882"/>
            <a:chExt cx="10190607" cy="2911793"/>
          </a:xfrm>
        </p:grpSpPr>
        <p:sp>
          <p:nvSpPr>
            <p:cNvPr id="8" name="TextBox 8"/>
            <p:cNvSpPr txBox="1"/>
            <p:nvPr/>
          </p:nvSpPr>
          <p:spPr>
            <a:xfrm>
              <a:off x="677418" y="2488882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과제 / 담당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1118" y="2488882"/>
              <a:ext cx="361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1주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0793" y="2488882"/>
              <a:ext cx="361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3주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0618" y="2488882"/>
              <a:ext cx="361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7주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94900" y="2488882"/>
              <a:ext cx="7719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12주 말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619500" y="282892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CCD7D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619500" y="2828925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CCD7D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829175" y="2828925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E1E7E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239000" y="2828925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E1E7E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58500" y="2828925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CCD7D3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73608" y="2969895"/>
            <a:ext cx="7021620" cy="784670"/>
            <a:chOff x="673608" y="2969895"/>
            <a:chExt cx="7021620" cy="784670"/>
          </a:xfrm>
        </p:grpSpPr>
        <p:sp>
          <p:nvSpPr>
            <p:cNvPr id="19" name="TextBox 19"/>
            <p:cNvSpPr txBox="1"/>
            <p:nvPr/>
          </p:nvSpPr>
          <p:spPr>
            <a:xfrm>
              <a:off x="673608" y="2969895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진단 기준 정비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7418" y="3431858"/>
              <a:ext cx="152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기술팀 / 1–2주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19500" y="2981325"/>
              <a:ext cx="1206500" cy="476250"/>
            </a:xfrm>
            <a:prstGeom prst="rect">
              <a:avLst/>
            </a:prstGeom>
            <a:solidFill>
              <a:srgbClr val="142C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12070" y="30880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rgbClr val="F7F7F2"/>
                  </a:solidFill>
                  <a:latin typeface="Pretendard"/>
                  <a:ea typeface="Pretendard"/>
                  <a:cs typeface="Pretendard"/>
                </a:rPr>
                <a:t>정비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01793" y="31365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산출물: 진단 체크리스트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3608" y="3922395"/>
            <a:ext cx="9275959" cy="784670"/>
            <a:chOff x="673608" y="3922395"/>
            <a:chExt cx="9275959" cy="784670"/>
          </a:xfrm>
        </p:grpSpPr>
        <p:sp>
          <p:nvSpPr>
            <p:cNvPr id="25" name="TextBox 25"/>
            <p:cNvSpPr txBox="1"/>
            <p:nvPr/>
          </p:nvSpPr>
          <p:spPr>
            <a:xfrm>
              <a:off x="673608" y="3922395"/>
              <a:ext cx="23651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두 팀 시범 운영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" y="4384358"/>
              <a:ext cx="152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자재팀 / 3–6주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826000" y="3933825"/>
              <a:ext cx="2413000" cy="476250"/>
            </a:xfrm>
            <a:prstGeom prst="rect">
              <a:avLst/>
            </a:prstGeom>
            <a:solidFill>
              <a:srgbClr val="218B7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39095" y="4040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부품 확보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11618" y="40890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판단: 최초 해결률 개선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3608" y="4874895"/>
            <a:ext cx="10184892" cy="784670"/>
            <a:chOff x="673608" y="4874895"/>
            <a:chExt cx="10184892" cy="784670"/>
          </a:xfrm>
        </p:grpSpPr>
        <p:sp>
          <p:nvSpPr>
            <p:cNvPr id="31" name="TextBox 31"/>
            <p:cNvSpPr txBox="1"/>
            <p:nvPr/>
          </p:nvSpPr>
          <p:spPr>
            <a:xfrm>
              <a:off x="673608" y="4874895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확대 여부 결정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418" y="533685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품질팀 / 7–12주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39000" y="4886325"/>
              <a:ext cx="3619500" cy="476250"/>
            </a:xfrm>
            <a:prstGeom prst="rect">
              <a:avLst/>
            </a:prstGeom>
            <a:solidFill>
              <a:srgbClr val="D6DFD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61682" y="4993005"/>
              <a:ext cx="25741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재방문율 주간 점검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7418" y="5791200"/>
            <a:ext cx="10828782" cy="565023"/>
            <a:chOff x="677418" y="5791200"/>
            <a:chExt cx="10828782" cy="565023"/>
          </a:xfrm>
        </p:grpSpPr>
        <p:sp>
          <p:nvSpPr>
            <p:cNvPr id="36" name="Line 36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CD7D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418" y="5994082"/>
              <a:ext cx="1482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최종 판단 기준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37332" y="5945505"/>
              <a:ext cx="40583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2C36"/>
                  </a:solidFill>
                  <a:latin typeface="Pretendard"/>
                  <a:ea typeface="Pretendard"/>
                  <a:cs typeface="Pretendard"/>
                </a:rPr>
                <a:t>재방문율 목표 3.6% 도달 여부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9704" y="6442710"/>
            <a:ext cx="10832592" cy="234696"/>
            <a:chOff x="679704" y="6442710"/>
            <a:chExt cx="10832592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679704" y="6442710"/>
              <a:ext cx="6490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기준일 2026-09-30 · 막대 길이는 2·4·6주에 비례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22406" y="644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57079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2026-10-06T12:54:02Z</dcterms:created>
  <dcterms:modified xsi:type="dcterms:W3CDTF">2026-10-06T12:54:02Z</dcterms:modified>
  <cp:category/>
  <cp:contentStatus/>
</cp:coreProperties>
</file>