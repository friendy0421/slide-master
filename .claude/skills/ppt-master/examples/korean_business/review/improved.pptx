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201.xml" ContentType="application/vnd.openxmlformats-officedocument.drawingml.chart+xml"/>
  <Override PartName="/ppt/charts/chart3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최초 해결률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현재</c:v>
                </c:pt>
                <c:pt idx="1">
                  <c:v>목표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20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원인 구성비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dPt>
            <c:idx val="2"/>
            <c:invertIfNegative val="0"/>
            <c:spPr>
              <a:solidFill>
                <a:srgbClr val="BAC5D3"/>
              </a:solidFill>
              <a:ln>
                <a:solidFill>
                  <a:srgbClr val="BAC5D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진단 누락</c:v>
                </c:pt>
                <c:pt idx="1">
                  <c:v>부품 미확보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usines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66675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300"/>
            </a:lvl1pPr>
          </a:lstStyle>
          <a:p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Korean Business Exam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201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301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236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재방문 감소가 다음 분기 우선과제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901538" cy="410718"/>
            <a:chOff x="675132" y="1583055"/>
            <a:chExt cx="590153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9015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서비스 조직의 실행 우선순위와 판단 기준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2419350"/>
            <a:ext cx="3704844" cy="2412873"/>
            <a:chOff x="666750" y="2419350"/>
            <a:chExt cx="3704844" cy="2412873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419350"/>
              <a:ext cx="2073554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4.8%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132" y="33737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현재 재방문율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37185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44215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다음 분기 목표 · 1.2%p 감소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619750" y="2524125"/>
            <a:ext cx="9525" cy="2905125"/>
          </a:xfrm>
          <a:custGeom>
            <a:avLst/>
            <a:gdLst/>
            <a:ahLst/>
            <a:cxnLst/>
            <a:rect l="l" t="t" r="r" b="b"/>
            <a:pathLst>
              <a:path w="9525"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>
            <a:solidFill>
              <a:srgbClr val="D8DEE8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6275832" y="2630805"/>
            <a:ext cx="3517487" cy="2638234"/>
            <a:chOff x="6275832" y="2630805"/>
            <a:chExt cx="3517487" cy="2638234"/>
          </a:xfrm>
        </p:grpSpPr>
        <p:sp>
          <p:nvSpPr>
            <p:cNvPr id="12" name="TextBox 12"/>
            <p:cNvSpPr txBox="1"/>
            <p:nvPr/>
          </p:nvSpPr>
          <p:spPr>
            <a:xfrm>
              <a:off x="6275832" y="26308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집중할 두 가지 과제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5832" y="329755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방문 전 진단을 표준화한다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388810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부품을 먼저 확보한다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118" y="49463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 기준: 재방문율과 최초 해결률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05372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816727" cy="410718"/>
            <a:chOff x="675132" y="1583055"/>
            <a:chExt cx="581672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8167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현재 84%, 목표 90% · 비율 차이는 %p로 표시</a:t>
              </a:r>
            </a:p>
          </p:txBody>
        </p:sp>
      </p:grpSp>
      <p:graphicFrame>
        <p:nvGraphicFramePr>
          <p:cNvPr id="6" name="resolution-chart"/>
          <p:cNvGraphicFramePr>
            <a:graphicFrameLocks noGrp="1"/>
          </p:cNvGraphicFramePr>
          <p:nvPr/>
        </p:nvGraphicFramePr>
        <p:xfrm>
          <a:off x="685800" y="2514600"/>
          <a:ext cx="7239000" cy="316230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834640"/>
            <a:ext cx="2226450" cy="1862899"/>
            <a:chOff x="8648700" y="2834640"/>
            <a:chExt cx="2226450" cy="186289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8346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-6%p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73805"/>
              <a:ext cx="18871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목표 대비 격차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748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방문 전 진단부터 개선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진단·부품 문제가 재방문의 80%다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152377" cy="410718"/>
            <a:chOff x="675132" y="1583055"/>
            <a:chExt cx="515237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1523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재방문 100건을 분류한 원인 구성비</a:t>
              </a:r>
            </a:p>
          </p:txBody>
        </p:sp>
      </p:grpSp>
      <p:graphicFrame>
        <p:nvGraphicFramePr>
          <p:cNvPr id="6" name="cause-chart"/>
          <p:cNvGraphicFramePr>
            <a:graphicFrameLocks noGrp="1"/>
          </p:cNvGraphicFramePr>
          <p:nvPr/>
        </p:nvGraphicFramePr>
        <p:xfrm>
          <a:off x="685800" y="2524125"/>
          <a:ext cx="7239000" cy="323850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758440"/>
            <a:ext cx="2545766" cy="1958149"/>
            <a:chOff x="8648700" y="2758440"/>
            <a:chExt cx="2545766" cy="195814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7584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80%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547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원인에 먼저 집중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93882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48% + 32% = 80%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원인 분류 100건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12주 실행계획과 단계별 판단 기준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269050" cy="410718"/>
            <a:chOff x="675132" y="1583055"/>
            <a:chExt cx="6269050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2690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진단 기준 정비 후 시범 운영으로 효과를 확인한다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8200" y="2724150"/>
            <a:ext cx="10401300" cy="152400"/>
            <a:chOff x="838200" y="2724150"/>
            <a:chExt cx="10401300" cy="152400"/>
          </a:xfrm>
        </p:grpSpPr>
        <p:sp>
          <p:nvSpPr>
            <p:cNvPr id="6" name="Line 6"/>
            <p:cNvSpPr/>
            <p:nvPr/>
          </p:nvSpPr>
          <p:spPr>
            <a:xfrm>
              <a:off x="914400" y="28003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D8DEE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724150"/>
              <a:ext cx="152400" cy="152400"/>
            </a:xfrm>
            <a:prstGeom prst="ellipse">
              <a:avLst/>
            </a:prstGeom>
            <a:solidFill>
              <a:srgbClr val="1E4D8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52950" y="2724150"/>
              <a:ext cx="152400" cy="152400"/>
            </a:xfrm>
            <a:prstGeom prst="ellipse">
              <a:avLst/>
            </a:prstGeom>
            <a:solidFill>
              <a:srgbClr val="167F8D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267700" y="2724150"/>
              <a:ext cx="152400" cy="152400"/>
            </a:xfrm>
            <a:prstGeom prst="ellipse">
              <a:avLst/>
            </a:prstGeom>
            <a:solidFill>
              <a:srgbClr val="52607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132" y="2279332"/>
            <a:ext cx="2495721" cy="2894457"/>
            <a:chOff x="675132" y="2279332"/>
            <a:chExt cx="2495721" cy="289445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1–2주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진단 기준 정비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3945255"/>
              <a:ext cx="21698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점검 항목을 통일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418" y="48510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산출물: 진단 체크리스트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9882" y="2279332"/>
            <a:ext cx="2663186" cy="2894457"/>
            <a:chOff x="4389882" y="2279332"/>
            <a:chExt cx="2663186" cy="2894457"/>
          </a:xfrm>
        </p:grpSpPr>
        <p:sp>
          <p:nvSpPr>
            <p:cNvPr id="16" name="TextBox 16"/>
            <p:cNvSpPr txBox="1"/>
            <p:nvPr/>
          </p:nvSpPr>
          <p:spPr>
            <a:xfrm>
              <a:off x="439216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3–6주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9882" y="33166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팀에서 시범 운영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9882" y="39452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 사전 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48510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최초 해결률 개선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04632" y="2279332"/>
            <a:ext cx="2735275" cy="2894457"/>
            <a:chOff x="8104632" y="2279332"/>
            <a:chExt cx="2735275" cy="2894457"/>
          </a:xfrm>
        </p:grpSpPr>
        <p:sp>
          <p:nvSpPr>
            <p:cNvPr id="21" name="TextBox 21"/>
            <p:cNvSpPr txBox="1"/>
            <p:nvPr/>
          </p:nvSpPr>
          <p:spPr>
            <a:xfrm>
              <a:off x="8106918" y="2279332"/>
              <a:ext cx="763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7–12주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확대 여부 결정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945255"/>
              <a:ext cx="273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재방문율을 주간 점검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4851082"/>
              <a:ext cx="2204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목표 3.6% 도달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4746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일정과 목표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9633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담당·기한·검증 기준을 함께 관리한다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014618" cy="410718"/>
            <a:chOff x="675132" y="1583055"/>
            <a:chExt cx="601461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0146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실행 과제 3개 · 담당자는 역할명으로 표시</a:t>
              </a:r>
            </a:p>
          </p:txBody>
        </p:sp>
      </p:grpSp>
      <p:graphicFrame>
        <p:nvGraphicFramePr>
          <p:cNvPr id="6" name="action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1619250"/>
                <a:gridCol w="171450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과제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담당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검증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방문 전 진단 표준화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기술팀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체크리스트 적용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핵심 부품 사전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자재팀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부품 준비율 95%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 원인 주간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품질팀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재방문율 3.6%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과제·담당·기한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83875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고객 접점 AI 도입 전 운영 리스크 점검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7117156" cy="410718"/>
            <a:chOff x="675132" y="1583055"/>
            <a:chExt cx="7117156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7117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혼합 언어 제목과 표의 수용량을 검증하는 가상 시나리오</a:t>
              </a:r>
            </a:p>
          </p:txBody>
        </p:sp>
      </p:grpSp>
      <p:graphicFrame>
        <p:nvGraphicFramePr>
          <p:cNvPr id="6" name="risk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333375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리스크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 신호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대응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불필요한 고객정보 노출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권한 밖 조회 발생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접근 권한과 로그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잘못된 진단 제안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시범 검증에서 오류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담당자가 최종 판단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현장 교육 시간 부족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참여율 목표 미달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주간 교육 일정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리스크 점검 사례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2026-10-06T11:57:55Z</dcterms:created>
  <dcterms:modified xsi:type="dcterms:W3CDTF">2026-10-06T11:57:55Z</dcterms:modified>
  <cp:category/>
  <cp:contentStatus/>
</cp:coreProperties>
</file>