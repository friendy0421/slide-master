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 Placeholder"/>
          <p:cNvSpPr>
            <a:spLocks noGrp="1"/>
          </p:cNvSpPr>
          <p:nvPr>
            <p:ph type="title"/>
          </p:nvPr>
        </p:nvSpPr>
        <p:spPr>
          <a:xfrm>
            <a:off x="723900" y="838200"/>
            <a:ext cx="9906000" cy="628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r>
              <a:rPr lang="ko-KR" sz="24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onsulting Clari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457200"/>
            <a:ext cx="47625" cy="5943600"/>
          </a:xfrm>
          <a:prstGeom prst="rect">
            <a:avLst/>
          </a:prstGeom>
          <a:solidFill>
            <a:srgbClr val="1E4D8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48950" y="266700"/>
            <a:ext cx="1181100" cy="1181100"/>
          </a:xfrm>
          <a:prstGeom prst="ellipse">
            <a:avLst/>
          </a:prstGeom>
          <a:noFill/>
          <a:ln w="76200">
            <a:solidFill>
              <a:srgbClr val="22A6B3">
                <a:alpha val="20000"/>
              </a:srgbClr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19138" y="588645"/>
            <a:ext cx="1457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90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SYNTHETIC BASELINE</a:t>
            </a:r>
          </a:p>
        </p:txBody>
      </p:sp>
      <p:sp>
        <p:nvSpPr>
          <p:cNvPr id="5" name="page-title Placeholder Carrier"/>
          <p:cNvSpPr txBox="1"/>
          <p:nvPr>
            <p:ph type="title"/>
          </p:nvPr>
        </p:nvSpPr>
        <p:spPr>
          <a:xfrm>
            <a:off x="711708" y="883920"/>
            <a:ext cx="51808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재방문 감소가 다음 분기 우선과제</a:t>
            </a:r>
          </a:p>
        </p:txBody>
      </p:sp>
      <p:sp>
        <p:nvSpPr>
          <p:cNvPr id="7" name="Line 7"/>
          <p:cNvSpPr/>
          <p:nvPr/>
        </p:nvSpPr>
        <p:spPr>
          <a:xfrm>
            <a:off x="723900" y="1504950"/>
            <a:ext cx="10591800" cy="9525"/>
          </a:xfrm>
          <a:custGeom>
            <a:avLst/>
            <a:gdLst/>
            <a:ahLst/>
            <a:cxnLst/>
            <a:rect l="l" t="t" r="r" b="b"/>
            <a:pathLst>
              <a:path w="10591800" h="9525">
                <a:moveTo>
                  <a:pt x="0" y="0"/>
                </a:moveTo>
                <a:lnTo>
                  <a:pt x="10591800" y="0"/>
                </a:lnTo>
              </a:path>
            </a:pathLst>
          </a:custGeom>
          <a:noFill/>
          <a:ln w="9525">
            <a:solidFill>
              <a:srgbClr val="6B7280">
                <a:alpha val="28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23900" y="1962150"/>
            <a:ext cx="6667500" cy="3143250"/>
          </a:xfrm>
          <a:prstGeom prst="rect">
            <a:avLst/>
          </a:prstGeom>
          <a:solidFill>
            <a:srgbClr val="F4F6F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85838" y="2284095"/>
            <a:ext cx="478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82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THESIS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1075" y="2636044"/>
            <a:ext cx="237784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8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집중할 두 가지 과제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504" y="3147060"/>
            <a:ext cx="33723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가상 서비스 조직의 실행 우선순위와 판단 기준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009650" y="381000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94435" y="3860006"/>
            <a:ext cx="22604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현재 재방문율 4.8% · 목표 3.6%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09650" y="421005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94435" y="4260056"/>
            <a:ext cx="18136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방문 전 진단을 표준화한다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009650" y="461010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94435" y="4660106"/>
            <a:ext cx="18136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핵심 부품을 먼저 확보한다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58100" y="1962150"/>
            <a:ext cx="36385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939088" y="2284095"/>
            <a:ext cx="56735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24800" y="2534602"/>
            <a:ext cx="1412032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50" b="1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3.6%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38516" y="3182302"/>
            <a:ext cx="23076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05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1.2%p 감소 · 재방문율·최초 해결률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0088" y="6483191"/>
            <a:ext cx="164796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82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합성자료 · 실제 회사 실적 아님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96961" y="6483191"/>
            <a:ext cx="1378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457200"/>
            <a:ext cx="47625" cy="5943600"/>
          </a:xfrm>
          <a:prstGeom prst="rect">
            <a:avLst/>
          </a:prstGeom>
          <a:solidFill>
            <a:srgbClr val="1E4D8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48950" y="266700"/>
            <a:ext cx="1181100" cy="1181100"/>
          </a:xfrm>
          <a:prstGeom prst="ellipse">
            <a:avLst/>
          </a:prstGeom>
          <a:noFill/>
          <a:ln w="76200">
            <a:solidFill>
              <a:srgbClr val="22A6B3">
                <a:alpha val="20000"/>
              </a:srgbClr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19138" y="588645"/>
            <a:ext cx="1457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90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SYNTHETIC BASELINE</a:t>
            </a:r>
          </a:p>
        </p:txBody>
      </p:sp>
      <p:sp>
        <p:nvSpPr>
          <p:cNvPr id="5" name="page-title Placeholder Carrier"/>
          <p:cNvSpPr txBox="1"/>
          <p:nvPr>
            <p:ph type="title"/>
          </p:nvPr>
        </p:nvSpPr>
        <p:spPr>
          <a:xfrm>
            <a:off x="711708" y="883920"/>
            <a:ext cx="51299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최초 해결률은 목표보다 6%p 낮다</a:t>
            </a:r>
          </a:p>
        </p:txBody>
      </p:sp>
      <p:sp>
        <p:nvSpPr>
          <p:cNvPr id="7" name="Line 7"/>
          <p:cNvSpPr/>
          <p:nvPr/>
        </p:nvSpPr>
        <p:spPr>
          <a:xfrm>
            <a:off x="723900" y="1504950"/>
            <a:ext cx="10591800" cy="9525"/>
          </a:xfrm>
          <a:custGeom>
            <a:avLst/>
            <a:gdLst/>
            <a:ahLst/>
            <a:cxnLst/>
            <a:rect l="l" t="t" r="r" b="b"/>
            <a:pathLst>
              <a:path w="10591800" h="9525">
                <a:moveTo>
                  <a:pt x="0" y="0"/>
                </a:moveTo>
                <a:lnTo>
                  <a:pt x="10591800" y="0"/>
                </a:lnTo>
              </a:path>
            </a:pathLst>
          </a:custGeom>
          <a:noFill/>
          <a:ln w="9525">
            <a:solidFill>
              <a:srgbClr val="6B7280">
                <a:alpha val="28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23900" y="1962150"/>
            <a:ext cx="6667500" cy="3143250"/>
          </a:xfrm>
          <a:prstGeom prst="rect">
            <a:avLst/>
          </a:prstGeom>
          <a:solidFill>
            <a:srgbClr val="F4F6F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85838" y="2284095"/>
            <a:ext cx="478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82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THESIS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1075" y="2636044"/>
            <a:ext cx="229833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8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현재와 목표의 격차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504" y="3147060"/>
            <a:ext cx="30734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최초 해결률 비교 · 비율 차이는 %p로 표시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009650" y="381000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94435" y="3860006"/>
            <a:ext cx="6399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현재 84%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09650" y="421005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94435" y="4260056"/>
            <a:ext cx="6399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목표 90%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009650" y="461010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94435" y="4660106"/>
            <a:ext cx="151076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방문 전 진단부터 개선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58100" y="1962150"/>
            <a:ext cx="36385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939088" y="2284095"/>
            <a:ext cx="56735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24800" y="2534602"/>
            <a:ext cx="1412032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50" b="1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-6%p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38516" y="3182302"/>
            <a:ext cx="11980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84% - 90% = -6%p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0088" y="6483191"/>
            <a:ext cx="164796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82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합성자료 · 실제 회사 실적 아님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96961" y="6483191"/>
            <a:ext cx="1378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457200"/>
            <a:ext cx="47625" cy="5943600"/>
          </a:xfrm>
          <a:prstGeom prst="rect">
            <a:avLst/>
          </a:prstGeom>
          <a:solidFill>
            <a:srgbClr val="1E4D8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48950" y="266700"/>
            <a:ext cx="1181100" cy="1181100"/>
          </a:xfrm>
          <a:prstGeom prst="ellipse">
            <a:avLst/>
          </a:prstGeom>
          <a:noFill/>
          <a:ln w="76200">
            <a:solidFill>
              <a:srgbClr val="22A6B3">
                <a:alpha val="20000"/>
              </a:srgbClr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19138" y="588645"/>
            <a:ext cx="1457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90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SYNTHETIC BASELINE</a:t>
            </a:r>
          </a:p>
        </p:txBody>
      </p:sp>
      <p:sp>
        <p:nvSpPr>
          <p:cNvPr id="5" name="page-title Placeholder Carrier"/>
          <p:cNvSpPr txBox="1"/>
          <p:nvPr>
            <p:ph type="title"/>
          </p:nvPr>
        </p:nvSpPr>
        <p:spPr>
          <a:xfrm>
            <a:off x="711708" y="883920"/>
            <a:ext cx="521479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진단·부품 문제가 재방문의 80%다</a:t>
            </a:r>
          </a:p>
        </p:txBody>
      </p:sp>
      <p:sp>
        <p:nvSpPr>
          <p:cNvPr id="7" name="Line 7"/>
          <p:cNvSpPr/>
          <p:nvPr/>
        </p:nvSpPr>
        <p:spPr>
          <a:xfrm>
            <a:off x="723900" y="1504950"/>
            <a:ext cx="10591800" cy="9525"/>
          </a:xfrm>
          <a:custGeom>
            <a:avLst/>
            <a:gdLst/>
            <a:ahLst/>
            <a:cxnLst/>
            <a:rect l="l" t="t" r="r" b="b"/>
            <a:pathLst>
              <a:path w="10591800" h="9525">
                <a:moveTo>
                  <a:pt x="0" y="0"/>
                </a:moveTo>
                <a:lnTo>
                  <a:pt x="10591800" y="0"/>
                </a:lnTo>
              </a:path>
            </a:pathLst>
          </a:custGeom>
          <a:noFill/>
          <a:ln w="9525">
            <a:solidFill>
              <a:srgbClr val="6B7280">
                <a:alpha val="28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23900" y="1962150"/>
            <a:ext cx="6667500" cy="3143250"/>
          </a:xfrm>
          <a:prstGeom prst="rect">
            <a:avLst/>
          </a:prstGeom>
          <a:solidFill>
            <a:srgbClr val="F4F6F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85838" y="2284095"/>
            <a:ext cx="478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82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THESIS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1075" y="2636044"/>
            <a:ext cx="237784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8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두 원인에 먼저 집중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504" y="3147060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가상 재방문 100건을 분류한 원인 구성비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009650" y="381000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94435" y="3860006"/>
            <a:ext cx="98826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진단 누락 48%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09650" y="421005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94435" y="4260056"/>
            <a:ext cx="113971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부품 미확보 32%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009650" y="461010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94435" y="4660106"/>
            <a:ext cx="6399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기타 20%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58100" y="1962150"/>
            <a:ext cx="36385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939088" y="2284095"/>
            <a:ext cx="56735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24800" y="2534602"/>
            <a:ext cx="1097172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50" b="1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80%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38516" y="3182302"/>
            <a:ext cx="11202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48% + 32% = 80%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0088" y="6483191"/>
            <a:ext cx="164796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82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합성자료 · 실제 회사 실적 아님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96961" y="6483191"/>
            <a:ext cx="1378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457200"/>
            <a:ext cx="47625" cy="5943600"/>
          </a:xfrm>
          <a:prstGeom prst="rect">
            <a:avLst/>
          </a:prstGeom>
          <a:solidFill>
            <a:srgbClr val="1E4D8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48950" y="266700"/>
            <a:ext cx="1181100" cy="1181100"/>
          </a:xfrm>
          <a:prstGeom prst="ellipse">
            <a:avLst/>
          </a:prstGeom>
          <a:noFill/>
          <a:ln w="76200">
            <a:solidFill>
              <a:srgbClr val="22A6B3">
                <a:alpha val="20000"/>
              </a:srgbClr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19138" y="588645"/>
            <a:ext cx="1457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90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SYNTHETIC BASELINE</a:t>
            </a:r>
          </a:p>
        </p:txBody>
      </p:sp>
      <p:sp>
        <p:nvSpPr>
          <p:cNvPr id="5" name="page-title Placeholder Carrier"/>
          <p:cNvSpPr txBox="1"/>
          <p:nvPr>
            <p:ph type="title"/>
          </p:nvPr>
        </p:nvSpPr>
        <p:spPr>
          <a:xfrm>
            <a:off x="711708" y="883920"/>
            <a:ext cx="521479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12주 실행계획과 단계별 판단 기준</a:t>
            </a:r>
          </a:p>
        </p:txBody>
      </p:sp>
      <p:sp>
        <p:nvSpPr>
          <p:cNvPr id="7" name="Line 7"/>
          <p:cNvSpPr/>
          <p:nvPr/>
        </p:nvSpPr>
        <p:spPr>
          <a:xfrm>
            <a:off x="723900" y="1504950"/>
            <a:ext cx="10591800" cy="9525"/>
          </a:xfrm>
          <a:custGeom>
            <a:avLst/>
            <a:gdLst/>
            <a:ahLst/>
            <a:cxnLst/>
            <a:rect l="l" t="t" r="r" b="b"/>
            <a:pathLst>
              <a:path w="10591800" h="9525">
                <a:moveTo>
                  <a:pt x="0" y="0"/>
                </a:moveTo>
                <a:lnTo>
                  <a:pt x="10591800" y="0"/>
                </a:lnTo>
              </a:path>
            </a:pathLst>
          </a:custGeom>
          <a:noFill/>
          <a:ln w="9525">
            <a:solidFill>
              <a:srgbClr val="6B7280">
                <a:alpha val="28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23900" y="1962150"/>
            <a:ext cx="6667500" cy="3143250"/>
          </a:xfrm>
          <a:prstGeom prst="rect">
            <a:avLst/>
          </a:prstGeom>
          <a:solidFill>
            <a:srgbClr val="F4F6F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85838" y="2284095"/>
            <a:ext cx="478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82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THESIS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1075" y="2636044"/>
            <a:ext cx="333196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8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시범 운영 후 확대 여부 결정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504" y="3147060"/>
            <a:ext cx="35823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진단 기준 정비 후 시범 운영으로 효과를 확인한다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009650" y="381000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94435" y="3860006"/>
            <a:ext cx="282078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1–2주: 점검 항목 통일 · 진단 체크리스트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09650" y="421005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94435" y="4260056"/>
            <a:ext cx="31085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3–6주: 두 팀 시범 운영 · 핵심 부품 사전 확보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009650" y="461010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94435" y="4660106"/>
            <a:ext cx="30100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7–12주: 주간 재방문 점검 · 목표 3.6% 도달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58100" y="1962150"/>
            <a:ext cx="36385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939088" y="2284095"/>
            <a:ext cx="56735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24800" y="2534602"/>
            <a:ext cx="1240290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4050" b="1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12주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38516" y="3182302"/>
            <a:ext cx="22369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05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판단: 최초 해결률 개선과 재방문율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0088" y="6483191"/>
            <a:ext cx="164796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82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합성자료 · 실제 회사 실적 아님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96961" y="6483191"/>
            <a:ext cx="1378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457200"/>
            <a:ext cx="47625" cy="5943600"/>
          </a:xfrm>
          <a:prstGeom prst="rect">
            <a:avLst/>
          </a:prstGeom>
          <a:solidFill>
            <a:srgbClr val="1E4D8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48950" y="266700"/>
            <a:ext cx="1181100" cy="1181100"/>
          </a:xfrm>
          <a:prstGeom prst="ellipse">
            <a:avLst/>
          </a:prstGeom>
          <a:noFill/>
          <a:ln w="76200">
            <a:solidFill>
              <a:srgbClr val="22A6B3">
                <a:alpha val="20000"/>
              </a:srgbClr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19138" y="588645"/>
            <a:ext cx="1457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90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SYNTHETIC BASELINE</a:t>
            </a:r>
          </a:p>
        </p:txBody>
      </p:sp>
      <p:sp>
        <p:nvSpPr>
          <p:cNvPr id="5" name="page-title Placeholder Carrier"/>
          <p:cNvSpPr txBox="1"/>
          <p:nvPr>
            <p:ph type="title"/>
          </p:nvPr>
        </p:nvSpPr>
        <p:spPr>
          <a:xfrm>
            <a:off x="711708" y="883920"/>
            <a:ext cx="579150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담당·기한·검증 기준을 함께 관리한다</a:t>
            </a:r>
          </a:p>
        </p:txBody>
      </p:sp>
      <p:sp>
        <p:nvSpPr>
          <p:cNvPr id="7" name="Line 7"/>
          <p:cNvSpPr/>
          <p:nvPr/>
        </p:nvSpPr>
        <p:spPr>
          <a:xfrm>
            <a:off x="723900" y="1504950"/>
            <a:ext cx="10591800" cy="9525"/>
          </a:xfrm>
          <a:custGeom>
            <a:avLst/>
            <a:gdLst/>
            <a:ahLst/>
            <a:cxnLst/>
            <a:rect l="l" t="t" r="r" b="b"/>
            <a:pathLst>
              <a:path w="10591800" h="9525">
                <a:moveTo>
                  <a:pt x="0" y="0"/>
                </a:moveTo>
                <a:lnTo>
                  <a:pt x="10591800" y="0"/>
                </a:lnTo>
              </a:path>
            </a:pathLst>
          </a:custGeom>
          <a:noFill/>
          <a:ln w="9525">
            <a:solidFill>
              <a:srgbClr val="6B7280">
                <a:alpha val="28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23900" y="1962150"/>
            <a:ext cx="6667500" cy="3143250"/>
          </a:xfrm>
          <a:prstGeom prst="rect">
            <a:avLst/>
          </a:prstGeom>
          <a:solidFill>
            <a:srgbClr val="F4F6F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85838" y="2284095"/>
            <a:ext cx="478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82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THESIS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1075" y="2636044"/>
            <a:ext cx="225858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8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가상 실행 과제 3개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504" y="3147060"/>
            <a:ext cx="18861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담당자는 역할명으로 표시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009650" y="381000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94435" y="3860006"/>
            <a:ext cx="38279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방문 전 진단 표준화 / 기술팀 / 2주차 / 체크리스트 적용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09650" y="421005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94435" y="4260056"/>
            <a:ext cx="385062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핵심 부품 사전 확보 / 자재팀 / 6주차 / 부품 준비율 95%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009650" y="461010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94435" y="4660106"/>
            <a:ext cx="39717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재방문 원인 주간 점검 / 품질팀 / 12주차 / 재방문율 3.6%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58100" y="1962150"/>
            <a:ext cx="36385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939088" y="2284095"/>
            <a:ext cx="56735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24800" y="2534602"/>
            <a:ext cx="925431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4050" b="1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3개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38516" y="3182302"/>
            <a:ext cx="16998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05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과제·담당·기한·검증 기준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0088" y="6483191"/>
            <a:ext cx="164796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82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합성자료 · 실제 회사 실적 아님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96961" y="6483191"/>
            <a:ext cx="1378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457200"/>
            <a:ext cx="47625" cy="5943600"/>
          </a:xfrm>
          <a:prstGeom prst="rect">
            <a:avLst/>
          </a:prstGeom>
          <a:solidFill>
            <a:srgbClr val="1E4D8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48950" y="266700"/>
            <a:ext cx="1181100" cy="1181100"/>
          </a:xfrm>
          <a:prstGeom prst="ellipse">
            <a:avLst/>
          </a:prstGeom>
          <a:noFill/>
          <a:ln w="76200">
            <a:solidFill>
              <a:srgbClr val="22A6B3">
                <a:alpha val="20000"/>
              </a:srgbClr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19138" y="588645"/>
            <a:ext cx="1457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90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SYNTHETIC BASELINE</a:t>
            </a:r>
          </a:p>
        </p:txBody>
      </p:sp>
      <p:sp>
        <p:nvSpPr>
          <p:cNvPr id="5" name="page-title Placeholder Carrier"/>
          <p:cNvSpPr txBox="1"/>
          <p:nvPr>
            <p:ph type="title"/>
          </p:nvPr>
        </p:nvSpPr>
        <p:spPr>
          <a:xfrm>
            <a:off x="711708" y="883920"/>
            <a:ext cx="610002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고객 접점 AI 도입 전 운영 리스크 점검</a:t>
            </a:r>
          </a:p>
        </p:txBody>
      </p:sp>
      <p:sp>
        <p:nvSpPr>
          <p:cNvPr id="7" name="Line 7"/>
          <p:cNvSpPr/>
          <p:nvPr/>
        </p:nvSpPr>
        <p:spPr>
          <a:xfrm>
            <a:off x="723900" y="1504950"/>
            <a:ext cx="10591800" cy="9525"/>
          </a:xfrm>
          <a:custGeom>
            <a:avLst/>
            <a:gdLst/>
            <a:ahLst/>
            <a:cxnLst/>
            <a:rect l="l" t="t" r="r" b="b"/>
            <a:pathLst>
              <a:path w="10591800" h="9525">
                <a:moveTo>
                  <a:pt x="0" y="0"/>
                </a:moveTo>
                <a:lnTo>
                  <a:pt x="10591800" y="0"/>
                </a:lnTo>
              </a:path>
            </a:pathLst>
          </a:custGeom>
          <a:noFill/>
          <a:ln w="9525">
            <a:solidFill>
              <a:srgbClr val="6B7280">
                <a:alpha val="28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23900" y="1962150"/>
            <a:ext cx="6667500" cy="3143250"/>
          </a:xfrm>
          <a:prstGeom prst="rect">
            <a:avLst/>
          </a:prstGeom>
          <a:solidFill>
            <a:srgbClr val="F4F6F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85838" y="2284095"/>
            <a:ext cx="478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82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THESIS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1075" y="2636044"/>
            <a:ext cx="298742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8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시범 운영 전 리스크 확인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504" y="3147060"/>
            <a:ext cx="35823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혼합 언어 제목과 표 수용량 검증용 가상 시나리오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009650" y="381000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94435" y="3860006"/>
            <a:ext cx="43125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불필요한 고객정보 노출 / 권한 밖 조회 / 접근 권한과 로그 점검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09650" y="421005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94435" y="4260056"/>
            <a:ext cx="381276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잘못된 진단 제안 / 시범 검증 오류 / 담당자가 최종 판단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009650" y="4610100"/>
            <a:ext cx="47625" cy="228600"/>
          </a:xfrm>
          <a:prstGeom prst="rect">
            <a:avLst/>
          </a:prstGeom>
          <a:solidFill>
            <a:srgbClr val="22A6B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94435" y="4660106"/>
            <a:ext cx="42065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현장 교육 시간 부족 / 참여율 목표 미달 / 주간 교육 일정 확보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58100" y="1962150"/>
            <a:ext cx="36385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939088" y="2284095"/>
            <a:ext cx="56735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24800" y="2534602"/>
            <a:ext cx="925431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4050" b="1" dirty="0">
                <a:solidFill>
                  <a:srgbClr val="1E4D8F"/>
                </a:solidFill>
                <a:latin typeface="Pretendard"/>
                <a:ea typeface="Pretendard"/>
                <a:cs typeface="Pretendard"/>
              </a:rPr>
              <a:t>3개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38516" y="3182302"/>
            <a:ext cx="18058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05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리스크·확인 신호·대응 기준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0088" y="6483191"/>
            <a:ext cx="164796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82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합성자료 · 실제 회사 실적 아님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96961" y="6483191"/>
            <a:ext cx="1378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2026-10-06T11:57:17Z</dcterms:created>
  <dcterms:modified xsi:type="dcterms:W3CDTF">2026-10-06T11:57:17Z</dcterms:modified>
  <cp:category/>
  <cp:contentStatus/>
</cp:coreProperties>
</file>