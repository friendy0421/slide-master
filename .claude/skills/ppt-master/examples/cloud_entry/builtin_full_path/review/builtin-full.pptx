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charts/chart1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01.xlsx"/>
</Relationships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합성 KPI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합성 KPI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2100">
                  <a:solidFill>
                    <a:schemeClr val="accent1"/>
                  </a:solidFill>
                  <a:latin typeface="Pretendard"/>
                  <a:ea typeface="Pretendard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706A5F"/>
            </a:solidFill>
            <a:round/>
          </a:ln>
        </c:spPr>
        <c:txPr>
          <a:bodyPr/>
          <a:lstStyle/>
          <a:p>
            <a:pPr>
              <a:defRPr sz="1500">
                <a:solidFill>
                  <a:srgbClr val="706A5F"/>
                </a:solidFill>
                <a:latin typeface="Pretendard"/>
                <a:ea typeface="Pretendard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0"/>
          <c:min val="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 w="9525" cap="flat" cmpd="sng" algn="ctr">
            <a:solidFill>
              <a:srgbClr val="706A5F"/>
            </a:solidFill>
            <a:round/>
          </a:ln>
        </c:spPr>
        <c:txPr>
          <a:bodyPr/>
          <a:lstStyle/>
          <a:p>
            <a:pPr>
              <a:defRPr sz="1500">
                <a:solidFill>
                  <a:srgbClr val="706A5F"/>
                </a:solidFill>
                <a:latin typeface="Pretendard"/>
                <a:ea typeface="Pretendard"/>
              </a:defRPr>
            </a:pPr>
            <a:endParaRPr lang="en-US"/>
          </a:p>
        </c:txPr>
        <c:crossAx val="2068027336"/>
        <c:crosses val="autoZero"/>
        <c:majorUnit val="50"/>
      </c:valAx>
      <c:spPr>
        <a:solidFill>
          <a:srgbClr val="F7F2E8"/>
        </a:solidFill>
        <a:ln>
          <a:noFill/>
        </a:ln>
      </c:spPr>
    </c:plotArea>
    <c:plotVisOnly val="1"/>
    <c:dispBlanksAs val="gap"/>
  </c:chart>
  <c:spPr>
    <a:solidFill>
      <a:srgbClr val="F7F2E8"/>
    </a:solidFill>
    <a:ln>
      <a:noFill/>
    </a:ln>
  </c:spPr>
  <c:txPr>
    <a:bodyPr/>
    <a:lstStyle/>
    <a:p>
      <a:pPr>
        <a:defRPr sz="2100">
          <a:solidFill>
            <a:srgbClr val="706A5F"/>
          </a:solidFill>
          <a:latin typeface="Pretendard"/>
          <a:ea typeface="Pretendard"/>
        </a:defRPr>
      </a:pPr>
      <a:endParaRPr lang="en-US"/>
    </a:p>
  </c:txPr>
  <c:externalData r:id="rId1">
    <c:autoUpdate val="0"/>
  </c:externalData>
</c:chartSpace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KPI Conten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op Layout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layout-side Layou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chemeClr val="accent1">
              <a:alpha val="6000"/>
            </a:schemeClr>
          </a:solidFill>
          <a:ln>
            <a:noFill/>
          </a:ln>
        </p:spPr>
      </p:sp>
      <p:sp>
        <p:nvSpPr>
          <p:cNvPr id="4" name="layout-bottom Layout"/>
          <p:cNvSpPr/>
          <p:nvPr/>
        </p:nvSpPr>
        <p:spPr>
          <a:xfrm>
            <a:off x="800100" y="6191250"/>
            <a:ext cx="10534650" cy="9525"/>
          </a:xfrm>
          <a:custGeom>
            <a:avLst/>
            <a:gdLst/>
            <a:ahLst/>
            <a:cxnLst/>
            <a:rect l="l" t="t" r="r" b="b"/>
            <a:pathLst>
              <a:path w="10534650" h="9525">
                <a:moveTo>
                  <a:pt x="0" y="0"/>
                </a:moveTo>
                <a:lnTo>
                  <a:pt x="105346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5" name="layout-header-rule Layout"/>
          <p:cNvSpPr/>
          <p:nvPr/>
        </p:nvSpPr>
        <p:spPr>
          <a:xfrm>
            <a:off x="723900" y="1695450"/>
            <a:ext cx="10591800" cy="9525"/>
          </a:xfrm>
          <a:custGeom>
            <a:avLst/>
            <a:gdLst/>
            <a:ahLst/>
            <a:cxnLst/>
            <a:rect l="l" t="t" r="r" b="b"/>
            <a:pathLst>
              <a:path w="10591800" h="9525">
                <a:moveTo>
                  <a:pt x="0" y="0"/>
                </a:moveTo>
                <a:lnTo>
                  <a:pt x="10591800" y="0"/>
                </a:lnTo>
              </a:path>
            </a:pathLst>
          </a:custGeom>
          <a:noFill/>
          <a:ln w="9525">
            <a:solidFill>
              <a:schemeClr val="dk2">
                <a:alpha val="28000"/>
              </a:schemeClr>
            </a:solidFill>
          </a:ln>
        </p:spPr>
      </p:sp>
      <p:sp>
        <p:nvSpPr>
          <p:cNvPr id="6" name="layout-message-band Layout"/>
          <p:cNvSpPr/>
          <p:nvPr/>
        </p:nvSpPr>
        <p:spPr>
          <a:xfrm>
            <a:off x="723900" y="1962150"/>
            <a:ext cx="10572750" cy="87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layout-current-rule Layout"/>
          <p:cNvSpPr/>
          <p:nvPr/>
        </p:nvSpPr>
        <p:spPr>
          <a:xfrm>
            <a:off x="723900" y="45910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8" name="layout-target-rule Layout"/>
          <p:cNvSpPr/>
          <p:nvPr/>
        </p:nvSpPr>
        <p:spPr>
          <a:xfrm>
            <a:off x="4248150" y="45910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9" name="layout-gap-rule Layout"/>
          <p:cNvSpPr/>
          <p:nvPr/>
        </p:nvSpPr>
        <p:spPr>
          <a:xfrm>
            <a:off x="7772400" y="45910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10" name="page-title Placeholder"/>
          <p:cNvSpPr>
            <a:spLocks noGrp="1"/>
          </p:cNvSpPr>
          <p:nvPr>
            <p:ph type="title"/>
          </p:nvPr>
        </p:nvSpPr>
        <p:spPr>
          <a:xfrm>
            <a:off x="723900" y="762000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ko-KR" sz="4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1" name="page-footer Placeholder"/>
          <p:cNvSpPr>
            <a:spLocks noGrp="1"/>
          </p:cNvSpPr>
          <p:nvPr>
            <p:ph type="ftr" idx="1"/>
          </p:nvPr>
        </p:nvSpPr>
        <p:spPr>
          <a:xfrm>
            <a:off x="704850" y="6334125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500"/>
            </a:lvl1pPr>
          </a:lstStyle>
          <a:p>
            <a:r>
              <a:rPr lang="ko-KR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12" name="page-number Placeholder"/>
          <p:cNvSpPr>
            <a:spLocks noGrp="1"/>
          </p:cNvSpPr>
          <p:nvPr>
            <p:ph type="sldNum" idx="2"/>
          </p:nvPr>
        </p:nvSpPr>
        <p:spPr>
          <a:xfrm>
            <a:off x="10858500" y="6334125"/>
            <a:ext cx="571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500"/>
            </a:lvl1pPr>
          </a:lstStyle>
          <a:p>
            <a:fld id="{4E1F96D1-922D-47A0-9C99-FF0BD4194E59}" type="slidenum">
              <a:rPr lang="en-US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Executive Boardroo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3000"/>
      </a:defPPr>
      <a:lvl1pPr marL="0" algn="l" defTabSz="4572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chart" Target="../charts/chart101.xml"/>
</Relationships>
</file>

<file path=ppt/slides/slide1.xml><?xml version="1.0" encoding="utf-8"?>
<p:sld xmlns:a="http://schemas.openxmlformats.org/drawingml/2006/main" xmlns:ns2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ge-title Placeholder Carrier"/>
          <p:cNvSpPr txBox="1"/>
          <p:nvPr>
            <p:ph type="title"/>
          </p:nvPr>
        </p:nvSpPr>
        <p:spPr>
          <a:xfrm>
            <a:off x="704850" y="815340"/>
            <a:ext cx="4339438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4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합성 KPI 점검</a:t>
            </a:r>
          </a:p>
        </p:txBody>
      </p:sp>
      <p:sp>
        <p:nvSpPr>
          <p:cNvPr id="12" name="page-footer Placeholder Carrier"/>
          <p:cNvSpPr txBox="1"/>
          <p:nvPr>
            <p:ph type="ftr" idx="1"/>
          </p:nvPr>
        </p:nvSpPr>
        <p:spPr>
          <a:xfrm>
            <a:off x="697230" y="6410325"/>
            <a:ext cx="27917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합성자료 · 실제 회사자료 아님</a:t>
            </a:r>
          </a:p>
        </p:txBody>
      </p:sp>
      <p:sp>
        <p:nvSpPr>
          <p:cNvPr id="14" name="page-number Placeholder Carrier"/>
          <p:cNvSpPr txBox="1"/>
          <p:nvPr>
            <p:ph type="sldNum" idx="2"/>
          </p:nvPr>
        </p:nvSpPr>
        <p:spPr>
          <a:xfrm>
            <a:off x="11200257" y="6410325"/>
            <a:ext cx="2373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6280" y="447675"/>
            <a:ext cx="13594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KEY MESSAGE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1362" y="2125980"/>
            <a:ext cx="4692678" cy="704088"/>
            <a:chOff x="991362" y="2125980"/>
            <a:chExt cx="4692678" cy="704088"/>
          </a:xfrm>
        </p:grpSpPr>
        <p:sp>
          <p:nvSpPr>
            <p:cNvPr id="16" name="TextBox 16"/>
            <p:cNvSpPr txBox="1"/>
            <p:nvPr/>
          </p:nvSpPr>
          <p:spPr>
            <a:xfrm>
              <a:off x="991362" y="2125980"/>
              <a:ext cx="469267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600" b="1" dirty="0">
                  <a:solidFill>
                    <a:srgbClr val="FFFDF8"/>
                  </a:solidFill>
                  <a:latin typeface="+mn-lt"/>
                  <a:ea typeface="+mn-ea"/>
                  <a:cs typeface="+mn-cs"/>
                </a:rPr>
                <a:t>현재 84%, 목표 90%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8660" y="3164205"/>
            <a:ext cx="814978" cy="1325118"/>
            <a:chOff x="708660" y="3164205"/>
            <a:chExt cx="814978" cy="1325118"/>
          </a:xfrm>
        </p:grpSpPr>
        <p:sp>
          <p:nvSpPr>
            <p:cNvPr id="18" name="TextBox 18"/>
            <p:cNvSpPr txBox="1"/>
            <p:nvPr/>
          </p:nvSpPr>
          <p:spPr>
            <a:xfrm>
              <a:off x="713232" y="31642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8660" y="3562350"/>
              <a:ext cx="8149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84%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3232" y="40786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현재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32910" y="3164205"/>
            <a:ext cx="814978" cy="1325118"/>
            <a:chOff x="4232910" y="3164205"/>
            <a:chExt cx="814978" cy="1325118"/>
          </a:xfrm>
        </p:grpSpPr>
        <p:sp>
          <p:nvSpPr>
            <p:cNvPr id="22" name="TextBox 22"/>
            <p:cNvSpPr txBox="1"/>
            <p:nvPr/>
          </p:nvSpPr>
          <p:spPr>
            <a:xfrm>
              <a:off x="4237482" y="31642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32910" y="3562350"/>
              <a:ext cx="8149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90%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37482" y="40786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목표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757160" y="3164205"/>
            <a:ext cx="1048207" cy="1325118"/>
            <a:chOff x="7757160" y="3164205"/>
            <a:chExt cx="1048207" cy="1325118"/>
          </a:xfrm>
        </p:grpSpPr>
        <p:sp>
          <p:nvSpPr>
            <p:cNvPr id="26" name="TextBox 26"/>
            <p:cNvSpPr txBox="1"/>
            <p:nvPr/>
          </p:nvSpPr>
          <p:spPr>
            <a:xfrm>
              <a:off x="7761732" y="31642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57160" y="3562350"/>
              <a:ext cx="10482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-6%p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61732" y="40786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격차</a:t>
              </a:r>
            </a:p>
          </p:txBody>
        </p:sp>
      </p:grpSp>
      <p:graphicFrame>
        <p:nvGraphicFramePr>
          <p:cNvPr id="30" name="kpi-chart"/>
          <p:cNvGraphicFramePr>
            <a:graphicFrameLocks noGrp="1"/>
          </p:cNvGraphicFramePr>
          <p:nvPr/>
        </p:nvGraphicFramePr>
        <p:xfrm>
          <a:off x="723900" y="4714875"/>
          <a:ext cx="6667500" cy="1381125"/>
        </p:xfrm>
        <a:graphic>
          <a:graphicData uri="http://schemas.openxmlformats.org/drawingml/2006/chart">
            <ns2:chart r:id="rId2"/>
          </a:graphicData>
        </a:graphic>
      </p:graphicFrame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7352B"/>
      </a:dk1>
      <a:lt1>
        <a:srgbClr val="F7F2E8"/>
      </a:lt1>
      <a:dk2>
        <a:srgbClr val="706A5F"/>
      </a:dk2>
      <a:lt2>
        <a:srgbClr val="F7F2E8"/>
      </a:lt2>
      <a:accent1>
        <a:srgbClr val="17352B"/>
      </a:accent1>
      <a:accent2>
        <a:srgbClr val="B38B3F"/>
      </a:accent2>
      <a:accent3>
        <a:srgbClr val="315E52"/>
      </a:accent3>
      <a:accent4>
        <a:srgbClr val="17352B"/>
      </a:accent4>
      <a:accent5>
        <a:srgbClr val="FFFDF8"/>
      </a:accent5>
      <a:accent6>
        <a:srgbClr val="F79646"/>
      </a:accent6>
      <a:hlink>
        <a:srgbClr val="B38B3F"/>
      </a:hlink>
      <a:folHlink>
        <a:srgbClr val="315E52"/>
      </a:folHlink>
    </a:clrScheme>
    <a:fontScheme name="PPT Master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2026-10-07T07:54:10Z</dcterms:created>
  <dcterms:modified xsi:type="dcterms:W3CDTF">2026-10-07T07:54:10Z</dcterms:modified>
  <cp:category/>
  <cp:contentStatus/>
</cp:coreProperties>
</file>