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7512" y="735330"/>
            <a:ext cx="4692678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3600" b="1" dirty="0">
                <a:solidFill>
                  <a:srgbClr val="172C36"/>
                </a:solidFill>
                <a:latin typeface="Pretendard"/>
                <a:ea typeface="Pretendard"/>
                <a:cs typeface="Pretendard"/>
              </a:rPr>
              <a:t>한글 장문·간격 검증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77418" y="1479232"/>
            <a:ext cx="678040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650" dirty="0">
                <a:solidFill>
                  <a:srgbClr val="536771"/>
                </a:solidFill>
                <a:latin typeface="Pretendard"/>
                <a:ea typeface="Pretendard"/>
                <a:cs typeface="Pretendard"/>
              </a:rPr>
              <a:t>합성 3문단 · 본문 21pt · 줄간격 30pt · 문단간격 9pt · 자간 0.3pt</a:t>
            </a:r>
          </a:p>
        </p:txBody>
      </p:sp>
      <p:sp>
        <p:nvSpPr>
          <p:cNvPr id="4" name="Rectangle 4"/>
          <p:cNvSpPr/>
          <p:nvPr/>
        </p:nvSpPr>
        <p:spPr>
          <a:xfrm>
            <a:off x="685800" y="2095500"/>
            <a:ext cx="10820400" cy="4191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DB"/>
            </a:solidFill>
          </a:ln>
        </p:spPr>
      </p:sp>
      <p:grpSp>
        <p:nvGrpSpPr>
          <p:cNvPr id="11" name="Group 11"/>
          <p:cNvGrpSpPr/>
          <p:nvPr/>
        </p:nvGrpSpPr>
        <p:grpSpPr>
          <a:xfrm>
            <a:off x="903732" y="2275999"/>
            <a:ext cx="12801486" cy="2544318"/>
            <a:chOff x="903732" y="2275999"/>
            <a:chExt cx="12801486" cy="2544318"/>
          </a:xfrm>
        </p:grpSpPr>
        <p:sp>
          <p:nvSpPr>
            <p:cNvPr id="5" name="TextBox 5"/>
            <p:cNvSpPr txBox="1"/>
            <p:nvPr/>
          </p:nvSpPr>
          <p:spPr>
            <a:xfrm>
              <a:off x="903732" y="2275999"/>
              <a:ext cx="1280148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spc="30" dirty="0">
                  <a:solidFill>
                    <a:srgbClr val="172C36"/>
                  </a:solidFill>
                  <a:latin typeface="Pretendard"/>
                  <a:ea typeface="Pretendard"/>
                  <a:cs typeface="Pretendard"/>
                </a:rPr>
                <a:t>가상 품질 개선팀은 접수 단계의 진단 기준을 정비하고 필요한 부품을 수리 전에 확인한다. 담당자는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03732" y="2656999"/>
              <a:ext cx="101521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spc="30" dirty="0">
                  <a:solidFill>
                    <a:srgbClr val="172C36"/>
                  </a:solidFill>
                  <a:latin typeface="Pretendard"/>
                  <a:ea typeface="Pretendard"/>
                  <a:cs typeface="Pretendard"/>
                </a:rPr>
                <a:t>점검 결과를 기록하며 기술팀과 자재팀이 같은 기준으로 진행 상태를 확인한다.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03732" y="3152299"/>
              <a:ext cx="1263731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spc="30" dirty="0">
                  <a:solidFill>
                    <a:srgbClr val="172C36"/>
                  </a:solidFill>
                  <a:latin typeface="Pretendard"/>
                  <a:ea typeface="Pretendard"/>
                  <a:cs typeface="Pretendard"/>
                </a:rPr>
                <a:t>합성자료의 2026Q3 최초 해결률은 84%이고 목표는 90%다. KPI 분석은 수치의 기준과 기간을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03732" y="3533299"/>
              <a:ext cx="673147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spc="30" dirty="0">
                  <a:solidFill>
                    <a:srgbClr val="172C36"/>
                  </a:solidFill>
                  <a:latin typeface="Pretendard"/>
                  <a:ea typeface="Pretendard"/>
                  <a:cs typeface="Pretendard"/>
                </a:rPr>
                <a:t>함께 표시하며 개선 효과는 다음 보고에서 확인한다.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03732" y="4028599"/>
              <a:ext cx="1205030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spc="30" dirty="0">
                  <a:solidFill>
                    <a:srgbClr val="172C36"/>
                  </a:solidFill>
                  <a:latin typeface="Pretendard"/>
                  <a:ea typeface="Pretendard"/>
                  <a:cs typeface="Pretendard"/>
                </a:rPr>
                <a:t>한글 장문은 어절을 유지하고 줄간격과 문단간격을 구분한다. 보고 내용이 상자에 맞지 않으면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03732" y="4409599"/>
              <a:ext cx="920309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spc="30" dirty="0">
                  <a:solidFill>
                    <a:srgbClr val="172C36"/>
                  </a:solidFill>
                  <a:latin typeface="Pretendard"/>
                  <a:ea typeface="Pretendard"/>
                  <a:cs typeface="Pretendard"/>
                </a:rPr>
                <a:t>사용자와 요약이나 분할을 확인하고 전체 장수와 핵심 정보를 유지한다.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679704" y="6480810"/>
            <a:ext cx="570661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200" dirty="0">
                <a:solidFill>
                  <a:srgbClr val="536771"/>
                </a:solidFill>
                <a:latin typeface="Pretendard"/>
                <a:ea typeface="Pretendard"/>
                <a:cs typeface="Pretendard"/>
              </a:rPr>
              <a:t>합성 검증자료 · 실회사 보고서/사진 템플릿 아님 · 전체 문장과 지정 장수 유지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7512" y="735330"/>
            <a:ext cx="5354201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3600" b="1" dirty="0">
                <a:solidFill>
                  <a:srgbClr val="172C36"/>
                </a:solidFill>
                <a:latin typeface="Pretendard"/>
                <a:ea typeface="Pretendard"/>
                <a:cs typeface="Pretendard"/>
              </a:rPr>
              <a:t>긴 센터명·장문 표 검증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77418" y="1479232"/>
            <a:ext cx="692478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650" dirty="0">
                <a:solidFill>
                  <a:srgbClr val="536771"/>
                </a:solidFill>
                <a:latin typeface="Pretendard"/>
                <a:ea typeface="Pretendard"/>
                <a:cs typeface="Pretendard"/>
              </a:rPr>
              <a:t>합성 센터명 · 원문 3문단 유지 · 영문/% 혼합 · native 표와 강조 run</a:t>
            </a:r>
          </a:p>
        </p:txBody>
      </p:sp>
      <p:graphicFrame>
        <p:nvGraphicFramePr>
          <p:cNvPr id="4" name="Native Table 4"/>
          <p:cNvGraphicFramePr>
            <a:graphicFrameLocks noGrp="1"/>
          </p:cNvGraphicFramePr>
          <p:nvPr/>
        </p:nvGraphicFramePr>
        <p:xfrm>
          <a:off x="685800" y="2286000"/>
          <a:ext cx="10820400" cy="371475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0820400"/>
              </a:tblGrid>
              <a:tr h="571501">
                <a:tc>
                  <a:txBody>
                    <a:bodyPr/>
                    <a:lstStyle/>
                    <a:p>
                      <a:pPr algn="ctr"/>
                      <a:r>
                        <a:rPr lang="ko-KR" sz="18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가상 센터 검토 내용</a:t>
                      </a:r>
                    </a:p>
                  </a:txBody>
                  <a:tcPr anchor="t" marL="152400" marR="152400" marT="152400" marB="152400">
                    <a:lnL w="9525">
                      <a:solidFill>
                        <a:srgbClr val="CBD5DB"/>
                      </a:solidFill>
                      <a:prstDash val="solid"/>
                    </a:lnL>
                    <a:lnR w="9525">
                      <a:solidFill>
                        <a:srgbClr val="CBD5DB"/>
                      </a:solidFill>
                      <a:prstDash val="solid"/>
                    </a:lnR>
                    <a:lnT w="9525">
                      <a:solidFill>
                        <a:srgbClr val="CBD5DB"/>
                      </a:solidFill>
                      <a:prstDash val="solid"/>
                    </a:lnT>
                    <a:lnB w="9525">
                      <a:solidFill>
                        <a:srgbClr val="CBD5DB"/>
                      </a:solidFill>
                      <a:prstDash val="solid"/>
                    </a:lnB>
                    <a:solidFill>
                      <a:srgbClr val="172C36"/>
                    </a:solidFill>
                  </a:tcPr>
                </a:tc>
              </a:tr>
              <a:tr h="3143249">
                <a:tc>
                  <a:txBody>
                    <a:bodyPr/>
                    <a:lstStyle/>
                    <a:p>
                      <a:pPr/>
                      <a:r>
                        <a:rPr lang="ko-KR" sz="2100" b="0">
                          <a:solidFill>
                            <a:srgbClr val="172C36"/>
                          </a:solidFill>
                          <a:latin typeface="Pretendard"/>
                          <a:ea typeface="Pretendard"/>
                        </a:rPr>
                        <a:t>천안서북아산통합서비스전문지원센터</a:t>
                      </a:r>
                    </a:p>
                    <a:p>
                      <a:pPr/>
                      <a:r>
                        <a:rPr lang="ko-KR" sz="2100" b="0">
                          <a:solidFill>
                            <a:srgbClr val="172C36"/>
                          </a:solidFill>
                          <a:latin typeface="Pretendard"/>
                          <a:ea typeface="Pretendard"/>
                        </a:rPr>
                        <a:t>가상 품질 개선팀은 접수 단계의 진단 기준을 정비하고 필요한 부품을 수리 전에 확인한다. 담당자는 점검 결과를 기록하며 기술팀과 자재팀이 같은 기준으로 진행 상태를 확인한다.</a:t>
                      </a:r>
                    </a:p>
                    <a:p>
                      <a:pPr/>
                      <a:r>
                        <a:rPr lang="ko-KR" sz="2100" b="1">
                          <a:solidFill>
                            <a:srgbClr val="172C36"/>
                          </a:solidFill>
                          <a:latin typeface="Pretendard"/>
                          <a:ea typeface="Pretendard"/>
                        </a:rPr>
                        <a:t>2026Q3</a:t>
                      </a:r>
                      <a:r>
                        <a:rPr lang="ko-KR" sz="2100" b="0">
                          <a:solidFill>
                            <a:srgbClr val="172C36"/>
                          </a:solidFill>
                          <a:latin typeface="Pretendard"/>
                          <a:ea typeface="Pretendard"/>
                        </a:rPr>
                        <a:t xml:space="preserve"> 합성 최초 해결률은 84%이고 목표는 90%다. KPI 분석은 수치의 기준과 기간을 함께 표시하며 개선 효과는 다음 보고에서 확인한다.</a:t>
                      </a:r>
                    </a:p>
                    <a:p>
                      <a:pPr/>
                      <a:r>
                        <a:rPr lang="ko-KR" sz="2100" b="0">
                          <a:solidFill>
                            <a:srgbClr val="172C36"/>
                          </a:solidFill>
                          <a:latin typeface="Pretendard"/>
                          <a:ea typeface="Pretendard"/>
                        </a:rPr>
                        <a:t>한글 장문은 어절을 유지하고 줄간격과 문단간격을 구분한다. 보고 내용이 상자에 맞지 않으면 사용자와 요약이나 분할을 확인하고 전체 장수와 핵심 정보를 유지한다.</a:t>
                      </a:r>
                    </a:p>
                  </a:txBody>
                  <a:tcPr anchor="t" marL="152400" marR="152400" marT="152400" marB="152400">
                    <a:lnL w="9525">
                      <a:solidFill>
                        <a:srgbClr val="CBD5DB"/>
                      </a:solidFill>
                      <a:prstDash val="solid"/>
                    </a:lnL>
                    <a:lnR w="9525">
                      <a:solidFill>
                        <a:srgbClr val="CBD5DB"/>
                      </a:solidFill>
                      <a:prstDash val="solid"/>
                    </a:lnR>
                    <a:lnT w="9525">
                      <a:solidFill>
                        <a:srgbClr val="CBD5DB"/>
                      </a:solidFill>
                      <a:prstDash val="solid"/>
                    </a:lnT>
                    <a:lnB w="9525">
                      <a:solidFill>
                        <a:srgbClr val="CB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5"/>
          <p:cNvSpPr txBox="1"/>
          <p:nvPr/>
        </p:nvSpPr>
        <p:spPr>
          <a:xfrm>
            <a:off x="679704" y="6480810"/>
            <a:ext cx="514121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200" dirty="0">
                <a:solidFill>
                  <a:srgbClr val="536771"/>
                </a:solidFill>
                <a:latin typeface="Pretendard"/>
                <a:ea typeface="Pretendard"/>
                <a:cs typeface="Pretendard"/>
              </a:rPr>
              <a:t>합성 검증자료 · 실제 센터/회사 자료 아님 · 표의 원문·문단·강조 유지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2026-10-06T13:53:40Z</dcterms:created>
  <dcterms:modified xsi:type="dcterms:W3CDTF">2026-10-06T13:53:40Z</dcterms:modified>
  <cp:category/>
  <cp:contentStatus/>
</cp:coreProperties>
</file>